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10287000" cx="18288000"/>
  <p:notesSz cx="6858000" cy="9144000"/>
  <p:embeddedFontLst>
    <p:embeddedFont>
      <p:font typeface="Noto Sans"/>
      <p:regular r:id="rId28"/>
      <p:bold r:id="rId29"/>
      <p:italic r:id="rId30"/>
      <p:boldItalic r:id="rId31"/>
    </p:embeddedFont>
    <p:embeddedFont>
      <p:font typeface="Montserra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gIGFLJ9ybShVACE+4njwVyR2KX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57D397-950B-48B9-8D01-CE271BCBC326}">
  <a:tblStyle styleId="{FA57D397-950B-48B9-8D01-CE271BCBC32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otoSans-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oto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otoSans-boldItalic.fntdata"/><Relationship Id="rId30" Type="http://schemas.openxmlformats.org/officeDocument/2006/relationships/font" Target="fonts/NotoSans-italic.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7" name="Google Shape;2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9" name="Google Shape;3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5" name="Google Shape;45;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4" name="Google Shape;54;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5" name="Google Shape;5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p:nvPr>
            <p:ph idx="2" type="pic"/>
          </p:nvPr>
        </p:nvSpPr>
        <p:spPr>
          <a:xfrm>
            <a:off x="1792288" y="612775"/>
            <a:ext cx="5486400" cy="4114800"/>
          </a:xfrm>
          <a:prstGeom prst="rect">
            <a:avLst/>
          </a:prstGeom>
          <a:noFill/>
          <a:ln>
            <a:noFill/>
          </a:ln>
        </p:spPr>
      </p:sp>
      <p:sp>
        <p:nvSpPr>
          <p:cNvPr id="68" name="Google Shape;68;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25.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38.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image" Target="../media/image46.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29.png"/><Relationship Id="rId5" Type="http://schemas.openxmlformats.org/officeDocument/2006/relationships/image" Target="../media/image42.png"/><Relationship Id="rId6"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4.jpg"/><Relationship Id="rId4" Type="http://schemas.openxmlformats.org/officeDocument/2006/relationships/image" Target="../media/image33.jpg"/><Relationship Id="rId5" Type="http://schemas.openxmlformats.org/officeDocument/2006/relationships/image" Target="../media/image30.jpg"/><Relationship Id="rId6" Type="http://schemas.openxmlformats.org/officeDocument/2006/relationships/image" Target="../media/image27.jpg"/><Relationship Id="rId7"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39.png"/><Relationship Id="rId11" Type="http://schemas.openxmlformats.org/officeDocument/2006/relationships/image" Target="../media/image45.png"/><Relationship Id="rId10" Type="http://schemas.openxmlformats.org/officeDocument/2006/relationships/image" Target="../media/image5.png"/><Relationship Id="rId9" Type="http://schemas.openxmlformats.org/officeDocument/2006/relationships/image" Target="../media/image43.png"/><Relationship Id="rId5" Type="http://schemas.openxmlformats.org/officeDocument/2006/relationships/image" Target="../media/image40.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grpSp>
        <p:nvGrpSpPr>
          <p:cNvPr id="88" name="Google Shape;88;p1"/>
          <p:cNvGrpSpPr/>
          <p:nvPr/>
        </p:nvGrpSpPr>
        <p:grpSpPr>
          <a:xfrm>
            <a:off x="1028700" y="884039"/>
            <a:ext cx="16230600" cy="8469191"/>
            <a:chOff x="0" y="-38100"/>
            <a:chExt cx="4274726" cy="2230569"/>
          </a:xfrm>
        </p:grpSpPr>
        <p:sp>
          <p:nvSpPr>
            <p:cNvPr id="89" name="Google Shape;89;p1"/>
            <p:cNvSpPr/>
            <p:nvPr/>
          </p:nvSpPr>
          <p:spPr>
            <a:xfrm>
              <a:off x="0" y="0"/>
              <a:ext cx="4274726" cy="2192469"/>
            </a:xfrm>
            <a:custGeom>
              <a:rect b="b" l="l" r="r" t="t"/>
              <a:pathLst>
                <a:path extrusionOk="0" h="2192469" w="4274726">
                  <a:moveTo>
                    <a:pt x="24327" y="0"/>
                  </a:moveTo>
                  <a:lnTo>
                    <a:pt x="4250399" y="0"/>
                  </a:lnTo>
                  <a:cubicBezTo>
                    <a:pt x="4263834" y="0"/>
                    <a:pt x="4274726" y="10891"/>
                    <a:pt x="4274726" y="24327"/>
                  </a:cubicBezTo>
                  <a:lnTo>
                    <a:pt x="4274726" y="2168142"/>
                  </a:lnTo>
                  <a:cubicBezTo>
                    <a:pt x="4274726" y="2181577"/>
                    <a:pt x="4263834" y="2192469"/>
                    <a:pt x="4250399" y="2192469"/>
                  </a:cubicBezTo>
                  <a:lnTo>
                    <a:pt x="24327" y="2192469"/>
                  </a:lnTo>
                  <a:cubicBezTo>
                    <a:pt x="10891" y="2192469"/>
                    <a:pt x="0" y="2181577"/>
                    <a:pt x="0" y="2168142"/>
                  </a:cubicBezTo>
                  <a:lnTo>
                    <a:pt x="0" y="24327"/>
                  </a:lnTo>
                  <a:cubicBezTo>
                    <a:pt x="0" y="10891"/>
                    <a:pt x="10891" y="0"/>
                    <a:pt x="243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0" y="-38100"/>
              <a:ext cx="4274726" cy="223056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p1"/>
          <p:cNvGrpSpPr/>
          <p:nvPr/>
        </p:nvGrpSpPr>
        <p:grpSpPr>
          <a:xfrm>
            <a:off x="0" y="3940397"/>
            <a:ext cx="18288000" cy="2225385"/>
            <a:chOff x="0" y="-47625"/>
            <a:chExt cx="4816593" cy="586109"/>
          </a:xfrm>
        </p:grpSpPr>
        <p:sp>
          <p:nvSpPr>
            <p:cNvPr id="92" name="Google Shape;92;p1"/>
            <p:cNvSpPr/>
            <p:nvPr/>
          </p:nvSpPr>
          <p:spPr>
            <a:xfrm>
              <a:off x="0" y="0"/>
              <a:ext cx="4816592" cy="538484"/>
            </a:xfrm>
            <a:custGeom>
              <a:rect b="b" l="l" r="r" t="t"/>
              <a:pathLst>
                <a:path extrusionOk="0" h="538484" w="4816592">
                  <a:moveTo>
                    <a:pt x="37677" y="0"/>
                  </a:moveTo>
                  <a:lnTo>
                    <a:pt x="4778916" y="0"/>
                  </a:lnTo>
                  <a:cubicBezTo>
                    <a:pt x="4788908" y="0"/>
                    <a:pt x="4798492" y="3969"/>
                    <a:pt x="4805557" y="11035"/>
                  </a:cubicBezTo>
                  <a:cubicBezTo>
                    <a:pt x="4812623" y="18101"/>
                    <a:pt x="4816592" y="27684"/>
                    <a:pt x="4816592" y="37677"/>
                  </a:cubicBezTo>
                  <a:lnTo>
                    <a:pt x="4816592" y="500807"/>
                  </a:lnTo>
                  <a:cubicBezTo>
                    <a:pt x="4816592" y="521615"/>
                    <a:pt x="4799724" y="538484"/>
                    <a:pt x="4778916" y="538484"/>
                  </a:cubicBezTo>
                  <a:lnTo>
                    <a:pt x="37677" y="538484"/>
                  </a:lnTo>
                  <a:cubicBezTo>
                    <a:pt x="16868" y="538484"/>
                    <a:pt x="0" y="521615"/>
                    <a:pt x="0" y="500807"/>
                  </a:cubicBezTo>
                  <a:lnTo>
                    <a:pt x="0" y="37677"/>
                  </a:lnTo>
                  <a:cubicBezTo>
                    <a:pt x="0" y="16868"/>
                    <a:pt x="16868" y="0"/>
                    <a:pt x="37677" y="0"/>
                  </a:cubicBezTo>
                  <a:close/>
                </a:path>
              </a:pathLst>
            </a:custGeom>
            <a:solidFill>
              <a:srgbClr val="CDEBE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0" y="-47625"/>
              <a:ext cx="4816593" cy="58610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4" name="Google Shape;94;p1"/>
          <p:cNvSpPr/>
          <p:nvPr/>
        </p:nvSpPr>
        <p:spPr>
          <a:xfrm>
            <a:off x="11991942" y="5379809"/>
            <a:ext cx="3809619" cy="4114800"/>
          </a:xfrm>
          <a:custGeom>
            <a:rect b="b" l="l" r="r" t="t"/>
            <a:pathLst>
              <a:path extrusionOk="0" h="4114800" w="3809619">
                <a:moveTo>
                  <a:pt x="0" y="0"/>
                </a:moveTo>
                <a:lnTo>
                  <a:pt x="3809619" y="0"/>
                </a:lnTo>
                <a:lnTo>
                  <a:pt x="3809619"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p:nvPr/>
        </p:nvSpPr>
        <p:spPr>
          <a:xfrm>
            <a:off x="13961487" y="6028639"/>
            <a:ext cx="4256246" cy="5143500"/>
          </a:xfrm>
          <a:custGeom>
            <a:rect b="b" l="l" r="r" t="t"/>
            <a:pathLst>
              <a:path extrusionOk="0" h="5143500" w="4256246">
                <a:moveTo>
                  <a:pt x="0" y="0"/>
                </a:moveTo>
                <a:lnTo>
                  <a:pt x="4256246" y="0"/>
                </a:lnTo>
                <a:lnTo>
                  <a:pt x="4256246" y="5143500"/>
                </a:lnTo>
                <a:lnTo>
                  <a:pt x="0" y="51435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txBox="1"/>
          <p:nvPr/>
        </p:nvSpPr>
        <p:spPr>
          <a:xfrm>
            <a:off x="6781800" y="1283191"/>
            <a:ext cx="43653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000000"/>
                </a:solidFill>
                <a:latin typeface="Noto Sans"/>
                <a:ea typeface="Noto Sans"/>
                <a:cs typeface="Noto Sans"/>
                <a:sym typeface="Noto Sans"/>
              </a:rPr>
              <a:t>BÀI 7</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0" y="6672745"/>
            <a:ext cx="8445946" cy="3663429"/>
          </a:xfrm>
          <a:custGeom>
            <a:rect b="b" l="l" r="r" t="t"/>
            <a:pathLst>
              <a:path extrusionOk="0" h="3663429" w="8445946">
                <a:moveTo>
                  <a:pt x="0" y="0"/>
                </a:moveTo>
                <a:lnTo>
                  <a:pt x="8445946" y="0"/>
                </a:lnTo>
                <a:lnTo>
                  <a:pt x="8445946" y="3663429"/>
                </a:lnTo>
                <a:lnTo>
                  <a:pt x="0" y="3663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1"/>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6">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1"/>
          <p:cNvSpPr/>
          <p:nvPr/>
        </p:nvSpPr>
        <p:spPr>
          <a:xfrm rot="10800000">
            <a:off x="9843191" y="0"/>
            <a:ext cx="8444809" cy="3662936"/>
          </a:xfrm>
          <a:custGeom>
            <a:rect b="b" l="l" r="r" t="t"/>
            <a:pathLst>
              <a:path extrusionOk="0" h="3662936" w="8444809">
                <a:moveTo>
                  <a:pt x="0" y="0"/>
                </a:moveTo>
                <a:lnTo>
                  <a:pt x="8444809" y="0"/>
                </a:lnTo>
                <a:lnTo>
                  <a:pt x="8444809" y="3662936"/>
                </a:lnTo>
                <a:lnTo>
                  <a:pt x="0" y="366293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p:nvPr/>
        </p:nvSpPr>
        <p:spPr>
          <a:xfrm>
            <a:off x="16385986" y="755603"/>
            <a:ext cx="1231512" cy="1205342"/>
          </a:xfrm>
          <a:custGeom>
            <a:rect b="b" l="l" r="r" t="t"/>
            <a:pathLst>
              <a:path extrusionOk="0" h="1205342" w="1231512">
                <a:moveTo>
                  <a:pt x="0" y="0"/>
                </a:moveTo>
                <a:lnTo>
                  <a:pt x="1231512" y="0"/>
                </a:lnTo>
                <a:lnTo>
                  <a:pt x="1231512" y="1205342"/>
                </a:lnTo>
                <a:lnTo>
                  <a:pt x="0" y="120534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1"/>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1"/>
          <p:cNvSpPr txBox="1"/>
          <p:nvPr/>
        </p:nvSpPr>
        <p:spPr>
          <a:xfrm>
            <a:off x="2008415" y="4283741"/>
            <a:ext cx="13912196" cy="1538691"/>
          </a:xfrm>
          <a:prstGeom prst="rect">
            <a:avLst/>
          </a:prstGeom>
          <a:noFill/>
          <a:ln>
            <a:noFill/>
          </a:ln>
        </p:spPr>
        <p:txBody>
          <a:bodyPr anchorCtr="0" anchor="t" bIns="0" lIns="0" spcFirstLastPara="1" rIns="0" wrap="square" tIns="0">
            <a:spAutoFit/>
          </a:bodyPr>
          <a:lstStyle/>
          <a:p>
            <a:pPr indent="0" lvl="0" marL="0" marR="0" rtl="0" algn="ctr">
              <a:lnSpc>
                <a:spcPct val="146363"/>
              </a:lnSpc>
              <a:spcBef>
                <a:spcPts val="0"/>
              </a:spcBef>
              <a:spcAft>
                <a:spcPts val="0"/>
              </a:spcAft>
              <a:buClr>
                <a:srgbClr val="000000"/>
              </a:buClr>
              <a:buSzPts val="8800"/>
              <a:buFont typeface="Arial"/>
              <a:buNone/>
            </a:pPr>
            <a:r>
              <a:rPr b="1" i="0" lang="en-US" sz="8800" u="none" cap="none" strike="noStrike">
                <a:solidFill>
                  <a:schemeClr val="dk1"/>
                </a:solidFill>
                <a:latin typeface="Calibri"/>
                <a:ea typeface="Calibri"/>
                <a:cs typeface="Calibri"/>
                <a:sym typeface="Calibri"/>
              </a:rPr>
              <a:t>AI NHẬN DIỆN HÌNH ẢNH</a:t>
            </a:r>
            <a:endParaRPr b="0" i="0" sz="8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p:nvPr/>
        </p:nvSpPr>
        <p:spPr>
          <a:xfrm>
            <a:off x="0" y="6672745"/>
            <a:ext cx="8445946" cy="3663429"/>
          </a:xfrm>
          <a:custGeom>
            <a:rect b="b" l="l" r="r" t="t"/>
            <a:pathLst>
              <a:path extrusionOk="0" h="3663429" w="8445946">
                <a:moveTo>
                  <a:pt x="0" y="0"/>
                </a:moveTo>
                <a:lnTo>
                  <a:pt x="8445946" y="0"/>
                </a:lnTo>
                <a:lnTo>
                  <a:pt x="8445946" y="3663429"/>
                </a:lnTo>
                <a:lnTo>
                  <a:pt x="0" y="366342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4">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p:nvPr/>
        </p:nvSpPr>
        <p:spPr>
          <a:xfrm>
            <a:off x="1139820" y="2155135"/>
            <a:ext cx="5688189" cy="5579165"/>
          </a:xfrm>
          <a:custGeom>
            <a:rect b="b" l="l" r="r" t="t"/>
            <a:pathLst>
              <a:path extrusionOk="0" h="5579165" w="5688189">
                <a:moveTo>
                  <a:pt x="0" y="0"/>
                </a:moveTo>
                <a:lnTo>
                  <a:pt x="5688189" y="0"/>
                </a:lnTo>
                <a:lnTo>
                  <a:pt x="5688189" y="5579165"/>
                </a:lnTo>
                <a:lnTo>
                  <a:pt x="0" y="557916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2"/>
          <p:cNvSpPr/>
          <p:nvPr/>
        </p:nvSpPr>
        <p:spPr>
          <a:xfrm flipH="1">
            <a:off x="14714129" y="6481571"/>
            <a:ext cx="3573871" cy="3651465"/>
          </a:xfrm>
          <a:custGeom>
            <a:rect b="b" l="l" r="r" t="t"/>
            <a:pathLst>
              <a:path extrusionOk="0" h="3651465" w="3573871">
                <a:moveTo>
                  <a:pt x="3573871" y="0"/>
                </a:moveTo>
                <a:lnTo>
                  <a:pt x="0" y="0"/>
                </a:lnTo>
                <a:lnTo>
                  <a:pt x="0" y="3651465"/>
                </a:lnTo>
                <a:lnTo>
                  <a:pt x="3573871" y="3651465"/>
                </a:lnTo>
                <a:lnTo>
                  <a:pt x="3573871"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rot="10800000">
            <a:off x="9843191" y="0"/>
            <a:ext cx="8444809" cy="3662936"/>
          </a:xfrm>
          <a:custGeom>
            <a:rect b="b" l="l" r="r" t="t"/>
            <a:pathLst>
              <a:path extrusionOk="0" h="3662936" w="8444809">
                <a:moveTo>
                  <a:pt x="0" y="0"/>
                </a:moveTo>
                <a:lnTo>
                  <a:pt x="8444809" y="0"/>
                </a:lnTo>
                <a:lnTo>
                  <a:pt x="8444809" y="3662936"/>
                </a:lnTo>
                <a:lnTo>
                  <a:pt x="0" y="36629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nvSpPr>
        <p:spPr>
          <a:xfrm>
            <a:off x="7339152" y="3305767"/>
            <a:ext cx="9046834" cy="2841016"/>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Clr>
                <a:srgbClr val="000000"/>
              </a:buClr>
              <a:buSzPts val="16604"/>
              <a:buFont typeface="Arial"/>
              <a:buNone/>
            </a:pPr>
            <a:r>
              <a:rPr b="1" i="0" lang="en-US" sz="16604" u="none" cap="none" strike="noStrike">
                <a:solidFill>
                  <a:srgbClr val="000000"/>
                </a:solidFill>
                <a:latin typeface="Noto Sans"/>
                <a:ea typeface="Noto Sans"/>
                <a:cs typeface="Noto Sans"/>
                <a:sym typeface="Noto Sans"/>
              </a:rPr>
              <a:t>GẮN KẾT</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3714285" y="3934110"/>
            <a:ext cx="726281" cy="170815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999"/>
              <a:buFont typeface="Arial"/>
              <a:buNone/>
            </a:pPr>
            <a:r>
              <a:rPr b="1" i="0" lang="en-US" sz="9999" u="none" cap="none" strike="noStrike">
                <a:solidFill>
                  <a:srgbClr val="000000"/>
                </a:solidFill>
                <a:latin typeface="Noto Sans"/>
                <a:ea typeface="Noto Sans"/>
                <a:cs typeface="Noto Sans"/>
                <a:sym typeface="Noto Sans"/>
              </a:rPr>
              <a:t>1</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p:nvPr/>
        </p:nvSpPr>
        <p:spPr>
          <a:xfrm>
            <a:off x="16385986" y="755603"/>
            <a:ext cx="1231512" cy="1205342"/>
          </a:xfrm>
          <a:custGeom>
            <a:rect b="b" l="l" r="r" t="t"/>
            <a:pathLst>
              <a:path extrusionOk="0" h="1205342" w="1231512">
                <a:moveTo>
                  <a:pt x="0" y="0"/>
                </a:moveTo>
                <a:lnTo>
                  <a:pt x="1231512" y="0"/>
                </a:lnTo>
                <a:lnTo>
                  <a:pt x="1231512" y="1205342"/>
                </a:lnTo>
                <a:lnTo>
                  <a:pt x="0" y="1205342"/>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3"/>
          <p:cNvSpPr/>
          <p:nvPr/>
        </p:nvSpPr>
        <p:spPr>
          <a:xfrm>
            <a:off x="0" y="0"/>
            <a:ext cx="18288000" cy="10287000"/>
          </a:xfrm>
          <a:prstGeom prst="rect">
            <a:avLst/>
          </a:prstGeom>
          <a:solidFill>
            <a:srgbClr val="7F7F7F">
              <a:alpha val="2941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3"/>
          <p:cNvSpPr/>
          <p:nvPr/>
        </p:nvSpPr>
        <p:spPr>
          <a:xfrm>
            <a:off x="715518" y="730635"/>
            <a:ext cx="10112773" cy="8846820"/>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ư thế &quot;khò khò&quot; khó đỡ của mèo | Giáo dục Việt Nam" id="123" name="Google Shape;123;p3"/>
          <p:cNvPicPr preferRelativeResize="0"/>
          <p:nvPr/>
        </p:nvPicPr>
        <p:blipFill rotWithShape="1">
          <a:blip r:embed="rId3">
            <a:alphaModFix/>
          </a:blip>
          <a:srcRect b="0" l="0" r="0" t="0"/>
          <a:stretch/>
        </p:blipFill>
        <p:spPr>
          <a:xfrm>
            <a:off x="1215328" y="975745"/>
            <a:ext cx="9108010" cy="8356599"/>
          </a:xfrm>
          <a:prstGeom prst="rect">
            <a:avLst/>
          </a:prstGeom>
          <a:noFill/>
          <a:ln>
            <a:noFill/>
          </a:ln>
        </p:spPr>
      </p:pic>
      <p:sp>
        <p:nvSpPr>
          <p:cNvPr id="124" name="Google Shape;124;p3"/>
          <p:cNvSpPr/>
          <p:nvPr/>
        </p:nvSpPr>
        <p:spPr>
          <a:xfrm>
            <a:off x="11301982" y="720090"/>
            <a:ext cx="6270498" cy="4182111"/>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219 – 24″" id="125" name="Google Shape;125;p3"/>
          <p:cNvPicPr preferRelativeResize="0"/>
          <p:nvPr/>
        </p:nvPicPr>
        <p:blipFill rotWithShape="1">
          <a:blip r:embed="rId4">
            <a:alphaModFix/>
          </a:blip>
          <a:srcRect b="0" l="0" r="0" t="0"/>
          <a:stretch/>
        </p:blipFill>
        <p:spPr>
          <a:xfrm>
            <a:off x="11653385" y="965200"/>
            <a:ext cx="5563266" cy="3713480"/>
          </a:xfrm>
          <a:prstGeom prst="rect">
            <a:avLst/>
          </a:prstGeom>
          <a:noFill/>
          <a:ln>
            <a:noFill/>
          </a:ln>
        </p:spPr>
      </p:pic>
      <p:sp>
        <p:nvSpPr>
          <p:cNvPr id="126" name="Google Shape;126;p3"/>
          <p:cNvSpPr/>
          <p:nvPr/>
        </p:nvSpPr>
        <p:spPr>
          <a:xfrm>
            <a:off x="11301982" y="5405505"/>
            <a:ext cx="6270498" cy="4182111"/>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group of red apples with a cut apple&#10;&#10;AI-generated content may be incorrect." id="127" name="Google Shape;127;p3"/>
          <p:cNvPicPr preferRelativeResize="0"/>
          <p:nvPr/>
        </p:nvPicPr>
        <p:blipFill rotWithShape="1">
          <a:blip r:embed="rId5">
            <a:alphaModFix/>
          </a:blip>
          <a:srcRect b="0" l="0" r="0" t="0"/>
          <a:stretch/>
        </p:blipFill>
        <p:spPr>
          <a:xfrm>
            <a:off x="11543809" y="5669008"/>
            <a:ext cx="5782418" cy="3614011"/>
          </a:xfrm>
          <a:prstGeom prst="rect">
            <a:avLst/>
          </a:prstGeom>
          <a:noFill/>
          <a:ln>
            <a:noFill/>
          </a:ln>
        </p:spPr>
      </p:pic>
      <p:sp>
        <p:nvSpPr>
          <p:cNvPr id="128" name="Google Shape;128;p3"/>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6">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4"/>
          <p:cNvSpPr/>
          <p:nvPr/>
        </p:nvSpPr>
        <p:spPr>
          <a:xfrm>
            <a:off x="0" y="0"/>
            <a:ext cx="18288000" cy="10287000"/>
          </a:xfrm>
          <a:prstGeom prst="rect">
            <a:avLst/>
          </a:prstGeom>
          <a:solidFill>
            <a:srgbClr val="7F7F7F">
              <a:alpha val="2941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 name="Google Shape;134;p4"/>
          <p:cNvSpPr/>
          <p:nvPr/>
        </p:nvSpPr>
        <p:spPr>
          <a:xfrm>
            <a:off x="715518" y="730635"/>
            <a:ext cx="10112773" cy="8846820"/>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ư thế &quot;khò khò&quot; khó đỡ của mèo | Giáo dục Việt Nam" id="135" name="Google Shape;135;p4"/>
          <p:cNvPicPr preferRelativeResize="0"/>
          <p:nvPr/>
        </p:nvPicPr>
        <p:blipFill rotWithShape="1">
          <a:blip r:embed="rId3">
            <a:alphaModFix/>
          </a:blip>
          <a:srcRect b="0" l="0" r="0" t="0"/>
          <a:stretch/>
        </p:blipFill>
        <p:spPr>
          <a:xfrm>
            <a:off x="1215328" y="975745"/>
            <a:ext cx="9108010" cy="8356599"/>
          </a:xfrm>
          <a:prstGeom prst="rect">
            <a:avLst/>
          </a:prstGeom>
          <a:noFill/>
          <a:ln>
            <a:noFill/>
          </a:ln>
        </p:spPr>
      </p:pic>
      <p:sp>
        <p:nvSpPr>
          <p:cNvPr id="136" name="Google Shape;136;p4"/>
          <p:cNvSpPr/>
          <p:nvPr/>
        </p:nvSpPr>
        <p:spPr>
          <a:xfrm>
            <a:off x="11301982" y="720090"/>
            <a:ext cx="6270498" cy="4182111"/>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219 – 24″" id="137" name="Google Shape;137;p4"/>
          <p:cNvPicPr preferRelativeResize="0"/>
          <p:nvPr/>
        </p:nvPicPr>
        <p:blipFill rotWithShape="1">
          <a:blip r:embed="rId4">
            <a:alphaModFix/>
          </a:blip>
          <a:srcRect b="0" l="0" r="0" t="0"/>
          <a:stretch/>
        </p:blipFill>
        <p:spPr>
          <a:xfrm>
            <a:off x="11653385" y="965200"/>
            <a:ext cx="5563266" cy="3713480"/>
          </a:xfrm>
          <a:prstGeom prst="rect">
            <a:avLst/>
          </a:prstGeom>
          <a:noFill/>
          <a:ln>
            <a:noFill/>
          </a:ln>
        </p:spPr>
      </p:pic>
      <p:sp>
        <p:nvSpPr>
          <p:cNvPr id="138" name="Google Shape;138;p4"/>
          <p:cNvSpPr/>
          <p:nvPr/>
        </p:nvSpPr>
        <p:spPr>
          <a:xfrm>
            <a:off x="11301982" y="5405505"/>
            <a:ext cx="6270498" cy="4182111"/>
          </a:xfrm>
          <a:prstGeom prst="rect">
            <a:avLst/>
          </a:prstGeom>
          <a:solidFill>
            <a:srgbClr val="FFFFFF"/>
          </a:solidFill>
          <a:ln cap="flat" cmpd="sng" w="19050">
            <a:solidFill>
              <a:srgbClr val="7F7F7F">
                <a:alpha val="8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group of red apples with a cut apple&#10;&#10;AI-generated content may be incorrect." id="139" name="Google Shape;139;p4"/>
          <p:cNvPicPr preferRelativeResize="0"/>
          <p:nvPr/>
        </p:nvPicPr>
        <p:blipFill rotWithShape="1">
          <a:blip r:embed="rId5">
            <a:alphaModFix/>
          </a:blip>
          <a:srcRect b="0" l="0" r="0" t="0"/>
          <a:stretch/>
        </p:blipFill>
        <p:spPr>
          <a:xfrm>
            <a:off x="11543809" y="5669008"/>
            <a:ext cx="5782418" cy="3614011"/>
          </a:xfrm>
          <a:prstGeom prst="rect">
            <a:avLst/>
          </a:prstGeom>
          <a:noFill/>
          <a:ln>
            <a:noFill/>
          </a:ln>
        </p:spPr>
      </p:pic>
      <p:sp>
        <p:nvSpPr>
          <p:cNvPr id="140" name="Google Shape;140;p4"/>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6">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6672745"/>
            <a:ext cx="8445946" cy="3663429"/>
          </a:xfrm>
          <a:custGeom>
            <a:rect b="b" l="l" r="r" t="t"/>
            <a:pathLst>
              <a:path extrusionOk="0" h="3663429" w="8445946">
                <a:moveTo>
                  <a:pt x="0" y="0"/>
                </a:moveTo>
                <a:lnTo>
                  <a:pt x="8445946" y="0"/>
                </a:lnTo>
                <a:lnTo>
                  <a:pt x="8445946" y="3663429"/>
                </a:lnTo>
                <a:lnTo>
                  <a:pt x="0" y="366342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5"/>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4">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5"/>
          <p:cNvSpPr/>
          <p:nvPr/>
        </p:nvSpPr>
        <p:spPr>
          <a:xfrm>
            <a:off x="1139820" y="2155135"/>
            <a:ext cx="5688189" cy="5579165"/>
          </a:xfrm>
          <a:custGeom>
            <a:rect b="b" l="l" r="r" t="t"/>
            <a:pathLst>
              <a:path extrusionOk="0" h="5579165" w="5688189">
                <a:moveTo>
                  <a:pt x="0" y="0"/>
                </a:moveTo>
                <a:lnTo>
                  <a:pt x="5688189" y="0"/>
                </a:lnTo>
                <a:lnTo>
                  <a:pt x="5688189" y="5579165"/>
                </a:lnTo>
                <a:lnTo>
                  <a:pt x="0" y="557916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5"/>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5"/>
          <p:cNvSpPr/>
          <p:nvPr/>
        </p:nvSpPr>
        <p:spPr>
          <a:xfrm rot="10800000">
            <a:off x="9843191" y="0"/>
            <a:ext cx="8444809" cy="3662936"/>
          </a:xfrm>
          <a:custGeom>
            <a:rect b="b" l="l" r="r" t="t"/>
            <a:pathLst>
              <a:path extrusionOk="0" h="3662936" w="8444809">
                <a:moveTo>
                  <a:pt x="0" y="0"/>
                </a:moveTo>
                <a:lnTo>
                  <a:pt x="8444809" y="0"/>
                </a:lnTo>
                <a:lnTo>
                  <a:pt x="8444809" y="3662936"/>
                </a:lnTo>
                <a:lnTo>
                  <a:pt x="0" y="36629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5"/>
          <p:cNvSpPr txBox="1"/>
          <p:nvPr/>
        </p:nvSpPr>
        <p:spPr>
          <a:xfrm>
            <a:off x="7171225" y="3315292"/>
            <a:ext cx="10711160" cy="268020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5605"/>
              <a:buFont typeface="Arial"/>
              <a:buNone/>
            </a:pPr>
            <a:r>
              <a:rPr b="1" i="0" lang="en-US" sz="15605" u="none" cap="none" strike="noStrike">
                <a:solidFill>
                  <a:srgbClr val="000000"/>
                </a:solidFill>
                <a:latin typeface="Noto Sans"/>
                <a:ea typeface="Noto Sans"/>
                <a:cs typeface="Noto Sans"/>
                <a:sym typeface="Noto Sans"/>
              </a:rPr>
              <a:t>KHÁM PHÁ</a:t>
            </a:r>
            <a:endParaRPr b="0" i="0" sz="1400" u="none" cap="none" strike="noStrike">
              <a:solidFill>
                <a:srgbClr val="000000"/>
              </a:solidFill>
              <a:latin typeface="Arial"/>
              <a:ea typeface="Arial"/>
              <a:cs typeface="Arial"/>
              <a:sym typeface="Arial"/>
            </a:endParaRPr>
          </a:p>
        </p:txBody>
      </p:sp>
      <p:sp>
        <p:nvSpPr>
          <p:cNvPr id="151" name="Google Shape;151;p5"/>
          <p:cNvSpPr txBox="1"/>
          <p:nvPr/>
        </p:nvSpPr>
        <p:spPr>
          <a:xfrm>
            <a:off x="3714285" y="3934110"/>
            <a:ext cx="726281" cy="170815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999"/>
              <a:buFont typeface="Arial"/>
              <a:buNone/>
            </a:pPr>
            <a:r>
              <a:rPr b="1" i="0" lang="en-US" sz="9999" u="none" cap="none" strike="noStrike">
                <a:solidFill>
                  <a:srgbClr val="000000"/>
                </a:solidFill>
                <a:latin typeface="Noto Sans"/>
                <a:ea typeface="Noto Sans"/>
                <a:cs typeface="Noto Sans"/>
                <a:sym typeface="Noto Sans"/>
              </a:rPr>
              <a:t>2</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5"/>
          <p:cNvSpPr/>
          <p:nvPr/>
        </p:nvSpPr>
        <p:spPr>
          <a:xfrm>
            <a:off x="16385986" y="755603"/>
            <a:ext cx="1231512" cy="1205342"/>
          </a:xfrm>
          <a:custGeom>
            <a:rect b="b" l="l" r="r" t="t"/>
            <a:pathLst>
              <a:path extrusionOk="0" h="1205342" w="1231512">
                <a:moveTo>
                  <a:pt x="0" y="0"/>
                </a:moveTo>
                <a:lnTo>
                  <a:pt x="1231512" y="0"/>
                </a:lnTo>
                <a:lnTo>
                  <a:pt x="1231512" y="1205342"/>
                </a:lnTo>
                <a:lnTo>
                  <a:pt x="0" y="120534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p5"/>
          <p:cNvSpPr/>
          <p:nvPr/>
        </p:nvSpPr>
        <p:spPr>
          <a:xfrm flipH="1">
            <a:off x="14238832" y="6247932"/>
            <a:ext cx="4049168" cy="4008677"/>
          </a:xfrm>
          <a:custGeom>
            <a:rect b="b" l="l" r="r" t="t"/>
            <a:pathLst>
              <a:path extrusionOk="0" h="4008677" w="4049168">
                <a:moveTo>
                  <a:pt x="4049168" y="0"/>
                </a:moveTo>
                <a:lnTo>
                  <a:pt x="0" y="0"/>
                </a:lnTo>
                <a:lnTo>
                  <a:pt x="0" y="4008677"/>
                </a:lnTo>
                <a:lnTo>
                  <a:pt x="4049168" y="4008677"/>
                </a:lnTo>
                <a:lnTo>
                  <a:pt x="4049168"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6"/>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0" name="Google Shape;160;p6"/>
          <p:cNvSpPr txBox="1"/>
          <p:nvPr>
            <p:ph type="title"/>
          </p:nvPr>
        </p:nvSpPr>
        <p:spPr>
          <a:xfrm>
            <a:off x="1257298" y="1762228"/>
            <a:ext cx="7240193" cy="428754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lang="en-US" sz="8400">
                <a:latin typeface="Montserrat"/>
                <a:ea typeface="Montserrat"/>
                <a:cs typeface="Montserrat"/>
                <a:sym typeface="Montserrat"/>
              </a:rPr>
              <a:t>SỬ DỤNG AI ĐỂ NHẬN DIỆN HÌNH ẢNH</a:t>
            </a:r>
            <a:endParaRPr>
              <a:latin typeface="Montserrat"/>
              <a:ea typeface="Montserrat"/>
              <a:cs typeface="Montserrat"/>
              <a:sym typeface="Montserrat"/>
            </a:endParaRPr>
          </a:p>
        </p:txBody>
      </p:sp>
      <p:sp>
        <p:nvSpPr>
          <p:cNvPr id="161" name="Google Shape;161;p6"/>
          <p:cNvSpPr txBox="1"/>
          <p:nvPr/>
        </p:nvSpPr>
        <p:spPr>
          <a:xfrm>
            <a:off x="1252536" y="6621270"/>
            <a:ext cx="7245424" cy="239176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2"/>
                </a:solidFill>
                <a:latin typeface="Calibri"/>
                <a:ea typeface="Calibri"/>
                <a:cs typeface="Calibri"/>
                <a:sym typeface="Calibri"/>
              </a:rPr>
              <a:t>https://chatgpt.com/share/68b24b0f-4604-8002-9fb2-b48910cccfe1</a:t>
            </a:r>
            <a:endParaRPr b="0" i="0" sz="1400" u="none" cap="none" strike="noStrike">
              <a:solidFill>
                <a:schemeClr val="dk2"/>
              </a:solidFill>
              <a:latin typeface="Arial"/>
              <a:ea typeface="Arial"/>
              <a:cs typeface="Arial"/>
              <a:sym typeface="Arial"/>
            </a:endParaRPr>
          </a:p>
        </p:txBody>
      </p:sp>
      <p:pic>
        <p:nvPicPr>
          <p:cNvPr descr="Tư thế &quot;khò khò&quot; khó đỡ của mèo | Giáo dục Việt Nam" id="162" name="Google Shape;162;p6"/>
          <p:cNvPicPr preferRelativeResize="0"/>
          <p:nvPr/>
        </p:nvPicPr>
        <p:blipFill rotWithShape="1">
          <a:blip r:embed="rId3">
            <a:alphaModFix/>
          </a:blip>
          <a:srcRect b="1" l="0" r="2" t="2473"/>
          <a:stretch/>
        </p:blipFill>
        <p:spPr>
          <a:xfrm>
            <a:off x="9144000" y="1262062"/>
            <a:ext cx="7891462" cy="7061390"/>
          </a:xfrm>
          <a:custGeom>
            <a:rect b="b" l="l" r="r" t="t"/>
            <a:pathLst>
              <a:path extrusionOk="0" h="4707593" w="5260975">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ln>
            <a:noFill/>
          </a:ln>
          <a:effectLst>
            <a:outerShdw blurRad="381000" rotWithShape="0" algn="t" dir="5400000" dist="152400">
              <a:srgbClr val="000000">
                <a:alpha val="9411"/>
              </a:srgbClr>
            </a:outerShdw>
          </a:effectLst>
        </p:spPr>
      </p:pic>
      <p:sp>
        <p:nvSpPr>
          <p:cNvPr id="163" name="Google Shape;163;p6"/>
          <p:cNvSpPr/>
          <p:nvPr/>
        </p:nvSpPr>
        <p:spPr>
          <a:xfrm>
            <a:off x="9144000" y="6207468"/>
            <a:ext cx="7891462" cy="2115984"/>
          </a:xfrm>
          <a:custGeom>
            <a:rect b="b" l="l" r="r" t="t"/>
            <a:pathLst>
              <a:path extrusionOk="0" h="1410656" w="5260975">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6"/>
          <p:cNvSpPr/>
          <p:nvPr/>
        </p:nvSpPr>
        <p:spPr>
          <a:xfrm>
            <a:off x="9144000" y="6207468"/>
            <a:ext cx="7891462" cy="2115984"/>
          </a:xfrm>
          <a:custGeom>
            <a:rect b="b" l="l" r="r" t="t"/>
            <a:pathLst>
              <a:path extrusionOk="0" h="1410656" w="5260975">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rotWithShape="1">
            <a:blip r:embed="rId4">
              <a:alphaModFix amt="57000"/>
            </a:blip>
            <a:tile algn="tl" flip="none" tx="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60"/>
                                        </p:tgtEl>
                                        <p:attrNameLst>
                                          <p:attrName>style.visibility</p:attrName>
                                        </p:attrNameLst>
                                      </p:cBhvr>
                                      <p:to>
                                        <p:strVal val="visible"/>
                                      </p:to>
                                    </p:set>
                                    <p:animEffect filter="fade" transition="in">
                                      <p:cBhvr>
                                        <p:cTn dur="7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7"/>
          <p:cNvSpPr/>
          <p:nvPr/>
        </p:nvSpPr>
        <p:spPr>
          <a:xfrm>
            <a:off x="903741" y="1796703"/>
            <a:ext cx="16480500" cy="6693600"/>
          </a:xfrm>
          <a:prstGeom prst="rect">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7"/>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 name="Google Shape;171;p7"/>
          <p:cNvSpPr txBox="1"/>
          <p:nvPr/>
        </p:nvSpPr>
        <p:spPr>
          <a:xfrm>
            <a:off x="1362681" y="2040721"/>
            <a:ext cx="6908010" cy="3581400"/>
          </a:xfrm>
          <a:prstGeom prst="rect">
            <a:avLst/>
          </a:prstGeom>
          <a:noFill/>
          <a:ln>
            <a:noFill/>
          </a:ln>
        </p:spPr>
        <p:txBody>
          <a:bodyPr anchorCtr="0" anchor="b" bIns="45700" lIns="91425" spcFirstLastPara="1" rIns="91425" wrap="square" tIns="45700">
            <a:normAutofit lnSpcReduction="20000"/>
          </a:bodyPr>
          <a:lstStyle/>
          <a:p>
            <a:pPr indent="0" lvl="0" marL="0" marR="0" rtl="0" algn="l">
              <a:lnSpc>
                <a:spcPct val="90000"/>
              </a:lnSpc>
              <a:spcBef>
                <a:spcPts val="0"/>
              </a:spcBef>
              <a:spcAft>
                <a:spcPts val="0"/>
              </a:spcAft>
              <a:buClr>
                <a:schemeClr val="lt1"/>
              </a:buClr>
              <a:buSzPts val="7500"/>
              <a:buFont typeface="Calibri"/>
              <a:buNone/>
            </a:pPr>
            <a:r>
              <a:rPr i="0" lang="en-US" sz="7500" u="none" cap="none" strike="noStrike">
                <a:solidFill>
                  <a:schemeClr val="lt1"/>
                </a:solidFill>
                <a:latin typeface="Montserrat"/>
                <a:ea typeface="Montserrat"/>
                <a:cs typeface="Montserrat"/>
                <a:sym typeface="Montserrat"/>
              </a:rPr>
              <a:t>SỬ DỤNG AI ĐỂ NHẬN DIỆN HÌNH ẢNH</a:t>
            </a:r>
            <a:endParaRPr i="0" sz="1400" u="none" cap="none" strike="noStrike">
              <a:solidFill>
                <a:srgbClr val="000000"/>
              </a:solidFill>
              <a:latin typeface="Montserrat"/>
              <a:ea typeface="Montserrat"/>
              <a:cs typeface="Montserrat"/>
              <a:sym typeface="Montserrat"/>
            </a:endParaRPr>
          </a:p>
        </p:txBody>
      </p:sp>
      <p:sp>
        <p:nvSpPr>
          <p:cNvPr id="172" name="Google Shape;172;p7"/>
          <p:cNvSpPr txBox="1"/>
          <p:nvPr/>
        </p:nvSpPr>
        <p:spPr>
          <a:xfrm>
            <a:off x="1362681" y="5760234"/>
            <a:ext cx="6908010" cy="248364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3000"/>
              <a:buFont typeface="Arial"/>
              <a:buNone/>
            </a:pPr>
            <a:r>
              <a:rPr b="0" i="0" lang="en-US" sz="3000" u="none" cap="none" strike="noStrike">
                <a:solidFill>
                  <a:schemeClr val="lt1"/>
                </a:solidFill>
                <a:latin typeface="Calibri"/>
                <a:ea typeface="Calibri"/>
                <a:cs typeface="Calibri"/>
                <a:sym typeface="Calibri"/>
              </a:rPr>
              <a:t>https://chatgpt.com/share/68b24b87-f634-8002-b620-347abeff766d</a:t>
            </a:r>
            <a:endParaRPr b="0" i="0" sz="1400" u="none" cap="none" strike="noStrike">
              <a:solidFill>
                <a:srgbClr val="000000"/>
              </a:solidFill>
              <a:latin typeface="Arial"/>
              <a:ea typeface="Arial"/>
              <a:cs typeface="Arial"/>
              <a:sym typeface="Arial"/>
            </a:endParaRPr>
          </a:p>
        </p:txBody>
      </p:sp>
      <p:pic>
        <p:nvPicPr>
          <p:cNvPr descr="219 – 24″" id="173" name="Google Shape;173;p7"/>
          <p:cNvPicPr preferRelativeResize="0"/>
          <p:nvPr/>
        </p:nvPicPr>
        <p:blipFill rotWithShape="1">
          <a:blip r:embed="rId3">
            <a:alphaModFix/>
          </a:blip>
          <a:srcRect b="0" l="0" r="0" t="0"/>
          <a:stretch/>
        </p:blipFill>
        <p:spPr>
          <a:xfrm>
            <a:off x="8701102" y="2181101"/>
            <a:ext cx="8547714" cy="5705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71"/>
                                        </p:tgtEl>
                                        <p:attrNameLst>
                                          <p:attrName>style.visibility</p:attrName>
                                        </p:attrNameLst>
                                      </p:cBhvr>
                                      <p:to>
                                        <p:strVal val="visible"/>
                                      </p:to>
                                    </p:set>
                                    <p:animEffect filter="fade" transition="in">
                                      <p:cBhvr>
                                        <p:cTn dur="7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8"/>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8"/>
          <p:cNvSpPr txBox="1"/>
          <p:nvPr/>
        </p:nvSpPr>
        <p:spPr>
          <a:xfrm>
            <a:off x="1257298" y="1762228"/>
            <a:ext cx="7240193" cy="4287545"/>
          </a:xfrm>
          <a:prstGeom prst="rect">
            <a:avLst/>
          </a:prstGeom>
          <a:noFill/>
          <a:ln>
            <a:noFill/>
          </a:ln>
        </p:spPr>
        <p:txBody>
          <a:bodyPr anchorCtr="0" anchor="b" bIns="45700" lIns="91425" spcFirstLastPara="1" rIns="91425" wrap="square" tIns="45700">
            <a:normAutofit lnSpcReduction="10000"/>
          </a:bodyPr>
          <a:lstStyle/>
          <a:p>
            <a:pPr indent="0" lvl="0" marL="0" marR="0" rtl="0" algn="l">
              <a:lnSpc>
                <a:spcPct val="90000"/>
              </a:lnSpc>
              <a:spcBef>
                <a:spcPts val="0"/>
              </a:spcBef>
              <a:spcAft>
                <a:spcPts val="0"/>
              </a:spcAft>
              <a:buClr>
                <a:schemeClr val="lt1"/>
              </a:buClr>
              <a:buSzPts val="8400"/>
              <a:buFont typeface="Calibri"/>
              <a:buNone/>
            </a:pPr>
            <a:r>
              <a:rPr i="0" lang="en-US" sz="8400" u="none" cap="none" strike="noStrike">
                <a:solidFill>
                  <a:schemeClr val="dk1"/>
                </a:solidFill>
              </a:rPr>
              <a:t>SỬ DỤNG AI ĐỂ NHẬN DIỆN HÌNH ẢNH</a:t>
            </a:r>
            <a:endParaRPr i="0" sz="1400" u="none" cap="none" strike="noStrike">
              <a:solidFill>
                <a:schemeClr val="dk1"/>
              </a:solidFill>
            </a:endParaRPr>
          </a:p>
        </p:txBody>
      </p:sp>
      <p:sp>
        <p:nvSpPr>
          <p:cNvPr id="180" name="Google Shape;180;p8"/>
          <p:cNvSpPr txBox="1"/>
          <p:nvPr/>
        </p:nvSpPr>
        <p:spPr>
          <a:xfrm>
            <a:off x="1252536" y="6621270"/>
            <a:ext cx="7245424" cy="239176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accent4"/>
                </a:solidFill>
                <a:latin typeface="Calibri"/>
                <a:ea typeface="Calibri"/>
                <a:cs typeface="Calibri"/>
                <a:sym typeface="Calibri"/>
              </a:rPr>
              <a:t>https://chatgpt.com/share/68b24bf8-86a0-8002-aa76-2639a4964f24</a:t>
            </a:r>
            <a:endParaRPr b="0" i="0" sz="1400" u="none" cap="none" strike="noStrike">
              <a:solidFill>
                <a:schemeClr val="accent4"/>
              </a:solidFill>
              <a:latin typeface="Arial"/>
              <a:ea typeface="Arial"/>
              <a:cs typeface="Arial"/>
              <a:sym typeface="Arial"/>
            </a:endParaRPr>
          </a:p>
        </p:txBody>
      </p:sp>
      <p:pic>
        <p:nvPicPr>
          <p:cNvPr descr="A group of red apples with a cut apple&#10;&#10;AI-generated content may be incorrect." id="181" name="Google Shape;181;p8"/>
          <p:cNvPicPr preferRelativeResize="0"/>
          <p:nvPr/>
        </p:nvPicPr>
        <p:blipFill rotWithShape="1">
          <a:blip r:embed="rId3">
            <a:alphaModFix/>
          </a:blip>
          <a:srcRect b="0" l="9633" r="20519" t="0"/>
          <a:stretch/>
        </p:blipFill>
        <p:spPr>
          <a:xfrm>
            <a:off x="9144000" y="1262062"/>
            <a:ext cx="7891462" cy="7061390"/>
          </a:xfrm>
          <a:custGeom>
            <a:rect b="b" l="l" r="r" t="t"/>
            <a:pathLst>
              <a:path extrusionOk="0" h="4707593" w="5260975">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ln>
            <a:noFill/>
          </a:ln>
          <a:effectLst>
            <a:outerShdw blurRad="381000" rotWithShape="0" algn="t" dir="5400000" dist="152400">
              <a:srgbClr val="000000">
                <a:alpha val="9411"/>
              </a:srgbClr>
            </a:outerShdw>
          </a:effectLst>
        </p:spPr>
      </p:pic>
      <p:sp>
        <p:nvSpPr>
          <p:cNvPr id="182" name="Google Shape;182;p8"/>
          <p:cNvSpPr/>
          <p:nvPr/>
        </p:nvSpPr>
        <p:spPr>
          <a:xfrm>
            <a:off x="9144000" y="6207468"/>
            <a:ext cx="7891462" cy="2115984"/>
          </a:xfrm>
          <a:custGeom>
            <a:rect b="b" l="l" r="r" t="t"/>
            <a:pathLst>
              <a:path extrusionOk="0" h="1410656" w="5260975">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p8"/>
          <p:cNvSpPr/>
          <p:nvPr/>
        </p:nvSpPr>
        <p:spPr>
          <a:xfrm>
            <a:off x="9144000" y="6207468"/>
            <a:ext cx="7891462" cy="2115984"/>
          </a:xfrm>
          <a:custGeom>
            <a:rect b="b" l="l" r="r" t="t"/>
            <a:pathLst>
              <a:path extrusionOk="0" h="1410656" w="5260975">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rotWithShape="1">
            <a:blip r:embed="rId4">
              <a:alphaModFix amt="57000"/>
            </a:blip>
            <a:tile algn="tl" flip="none" tx="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79"/>
                                        </p:tgtEl>
                                        <p:attrNameLst>
                                          <p:attrName>style.visibility</p:attrName>
                                        </p:attrNameLst>
                                      </p:cBhvr>
                                      <p:to>
                                        <p:strVal val="visible"/>
                                      </p:to>
                                    </p:set>
                                    <p:animEffect filter="fade" transition="in">
                                      <p:cBhvr>
                                        <p:cTn dur="7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9"/>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p9"/>
          <p:cNvSpPr/>
          <p:nvPr/>
        </p:nvSpPr>
        <p:spPr>
          <a:xfrm flipH="1">
            <a:off x="6400800" y="946404"/>
            <a:ext cx="27432" cy="8385571"/>
          </a:xfrm>
          <a:custGeom>
            <a:rect b="b" l="l" r="r" t="t"/>
            <a:pathLst>
              <a:path extrusionOk="0" fill="none" h="8385571" w="27432">
                <a:moveTo>
                  <a:pt x="0" y="0"/>
                </a:moveTo>
                <a:cubicBezTo>
                  <a:pt x="6445" y="-74"/>
                  <a:pt x="19313" y="-390"/>
                  <a:pt x="27432" y="0"/>
                </a:cubicBezTo>
                <a:cubicBezTo>
                  <a:pt x="-4661" y="346694"/>
                  <a:pt x="-1287" y="402533"/>
                  <a:pt x="27432" y="782653"/>
                </a:cubicBezTo>
                <a:cubicBezTo>
                  <a:pt x="56151" y="1162773"/>
                  <a:pt x="32971" y="1199138"/>
                  <a:pt x="27432" y="1313739"/>
                </a:cubicBezTo>
                <a:cubicBezTo>
                  <a:pt x="21893" y="1428340"/>
                  <a:pt x="53461" y="1776996"/>
                  <a:pt x="27432" y="2012537"/>
                </a:cubicBezTo>
                <a:cubicBezTo>
                  <a:pt x="1403" y="2248078"/>
                  <a:pt x="30613" y="2272850"/>
                  <a:pt x="27432" y="2459767"/>
                </a:cubicBezTo>
                <a:cubicBezTo>
                  <a:pt x="24252" y="2646684"/>
                  <a:pt x="22872" y="2864522"/>
                  <a:pt x="27432" y="3074709"/>
                </a:cubicBezTo>
                <a:cubicBezTo>
                  <a:pt x="31992" y="3284896"/>
                  <a:pt x="16596" y="3424146"/>
                  <a:pt x="27432" y="3605796"/>
                </a:cubicBezTo>
                <a:cubicBezTo>
                  <a:pt x="38268" y="3787446"/>
                  <a:pt x="34178" y="4002777"/>
                  <a:pt x="27432" y="4220737"/>
                </a:cubicBezTo>
                <a:cubicBezTo>
                  <a:pt x="20686" y="4438697"/>
                  <a:pt x="16367" y="4516592"/>
                  <a:pt x="27432" y="4751824"/>
                </a:cubicBezTo>
                <a:cubicBezTo>
                  <a:pt x="38497" y="4987056"/>
                  <a:pt x="42400" y="4996558"/>
                  <a:pt x="27432" y="5199054"/>
                </a:cubicBezTo>
                <a:cubicBezTo>
                  <a:pt x="12465" y="5401550"/>
                  <a:pt x="47882" y="5751705"/>
                  <a:pt x="27432" y="5981707"/>
                </a:cubicBezTo>
                <a:cubicBezTo>
                  <a:pt x="6982" y="6211709"/>
                  <a:pt x="40904" y="6351693"/>
                  <a:pt x="27432" y="6596649"/>
                </a:cubicBezTo>
                <a:cubicBezTo>
                  <a:pt x="13960" y="6841605"/>
                  <a:pt x="32831" y="7196088"/>
                  <a:pt x="27432" y="7379302"/>
                </a:cubicBezTo>
                <a:cubicBezTo>
                  <a:pt x="22033" y="7562516"/>
                  <a:pt x="12703" y="8105417"/>
                  <a:pt x="27432" y="8385571"/>
                </a:cubicBezTo>
                <a:cubicBezTo>
                  <a:pt x="15079" y="8384479"/>
                  <a:pt x="8384" y="8384820"/>
                  <a:pt x="0" y="8385571"/>
                </a:cubicBezTo>
                <a:cubicBezTo>
                  <a:pt x="-9222" y="8184772"/>
                  <a:pt x="-3801" y="7840755"/>
                  <a:pt x="0" y="7686773"/>
                </a:cubicBezTo>
                <a:cubicBezTo>
                  <a:pt x="3801" y="7532791"/>
                  <a:pt x="9771" y="7265683"/>
                  <a:pt x="0" y="7155687"/>
                </a:cubicBezTo>
                <a:cubicBezTo>
                  <a:pt x="-9771" y="7045691"/>
                  <a:pt x="37823" y="6639323"/>
                  <a:pt x="0" y="6373034"/>
                </a:cubicBezTo>
                <a:cubicBezTo>
                  <a:pt x="-37823" y="6106745"/>
                  <a:pt x="7609" y="6070807"/>
                  <a:pt x="0" y="5841948"/>
                </a:cubicBezTo>
                <a:cubicBezTo>
                  <a:pt x="-7609" y="5613089"/>
                  <a:pt x="1785" y="5396348"/>
                  <a:pt x="0" y="5227006"/>
                </a:cubicBezTo>
                <a:cubicBezTo>
                  <a:pt x="-1785" y="5057664"/>
                  <a:pt x="17374" y="4822375"/>
                  <a:pt x="0" y="4695920"/>
                </a:cubicBezTo>
                <a:cubicBezTo>
                  <a:pt x="-17374" y="4569465"/>
                  <a:pt x="-37614" y="4208520"/>
                  <a:pt x="0" y="3913266"/>
                </a:cubicBezTo>
                <a:cubicBezTo>
                  <a:pt x="37614" y="3618012"/>
                  <a:pt x="-28128" y="3519129"/>
                  <a:pt x="0" y="3214469"/>
                </a:cubicBezTo>
                <a:cubicBezTo>
                  <a:pt x="28128" y="2909809"/>
                  <a:pt x="20752" y="2887116"/>
                  <a:pt x="0" y="2599527"/>
                </a:cubicBezTo>
                <a:cubicBezTo>
                  <a:pt x="-20752" y="2311938"/>
                  <a:pt x="-23269" y="2180831"/>
                  <a:pt x="0" y="1816874"/>
                </a:cubicBezTo>
                <a:cubicBezTo>
                  <a:pt x="23269" y="1452917"/>
                  <a:pt x="15218" y="1441230"/>
                  <a:pt x="0" y="1285788"/>
                </a:cubicBezTo>
                <a:cubicBezTo>
                  <a:pt x="-15218" y="1130346"/>
                  <a:pt x="36978" y="468039"/>
                  <a:pt x="0" y="0"/>
                </a:cubicBezTo>
                <a:close/>
              </a:path>
              <a:path extrusionOk="0" h="8385571" w="27432">
                <a:moveTo>
                  <a:pt x="0" y="0"/>
                </a:moveTo>
                <a:cubicBezTo>
                  <a:pt x="6665" y="1306"/>
                  <a:pt x="15136" y="257"/>
                  <a:pt x="27432" y="0"/>
                </a:cubicBezTo>
                <a:cubicBezTo>
                  <a:pt x="50285" y="165299"/>
                  <a:pt x="12757" y="427555"/>
                  <a:pt x="27432" y="698798"/>
                </a:cubicBezTo>
                <a:cubicBezTo>
                  <a:pt x="42107" y="970041"/>
                  <a:pt x="28824" y="1226199"/>
                  <a:pt x="27432" y="1397595"/>
                </a:cubicBezTo>
                <a:cubicBezTo>
                  <a:pt x="26040" y="1568991"/>
                  <a:pt x="37377" y="1834498"/>
                  <a:pt x="27432" y="2180248"/>
                </a:cubicBezTo>
                <a:cubicBezTo>
                  <a:pt x="17487" y="2525998"/>
                  <a:pt x="49768" y="2451590"/>
                  <a:pt x="27432" y="2711335"/>
                </a:cubicBezTo>
                <a:cubicBezTo>
                  <a:pt x="5096" y="2971080"/>
                  <a:pt x="63163" y="3174430"/>
                  <a:pt x="27432" y="3493988"/>
                </a:cubicBezTo>
                <a:cubicBezTo>
                  <a:pt x="-8299" y="3813546"/>
                  <a:pt x="55483" y="4186811"/>
                  <a:pt x="27432" y="4360497"/>
                </a:cubicBezTo>
                <a:cubicBezTo>
                  <a:pt x="-619" y="4534183"/>
                  <a:pt x="7974" y="4709969"/>
                  <a:pt x="27432" y="5059295"/>
                </a:cubicBezTo>
                <a:cubicBezTo>
                  <a:pt x="46890" y="5408621"/>
                  <a:pt x="-7157" y="5526851"/>
                  <a:pt x="27432" y="5758092"/>
                </a:cubicBezTo>
                <a:cubicBezTo>
                  <a:pt x="62021" y="5989333"/>
                  <a:pt x="44642" y="6191514"/>
                  <a:pt x="27432" y="6373034"/>
                </a:cubicBezTo>
                <a:cubicBezTo>
                  <a:pt x="10222" y="6554554"/>
                  <a:pt x="26177" y="6786694"/>
                  <a:pt x="27432" y="6987976"/>
                </a:cubicBezTo>
                <a:cubicBezTo>
                  <a:pt x="28687" y="7189258"/>
                  <a:pt x="56526" y="7488127"/>
                  <a:pt x="27432" y="7770629"/>
                </a:cubicBezTo>
                <a:cubicBezTo>
                  <a:pt x="-1662" y="8053131"/>
                  <a:pt x="-2257" y="8194797"/>
                  <a:pt x="27432" y="8385571"/>
                </a:cubicBezTo>
                <a:cubicBezTo>
                  <a:pt x="21511" y="8386050"/>
                  <a:pt x="6920" y="8384336"/>
                  <a:pt x="0" y="8385571"/>
                </a:cubicBezTo>
                <a:cubicBezTo>
                  <a:pt x="-21816" y="8200889"/>
                  <a:pt x="-14926" y="7924873"/>
                  <a:pt x="0" y="7602918"/>
                </a:cubicBezTo>
                <a:cubicBezTo>
                  <a:pt x="14926" y="7280963"/>
                  <a:pt x="8602" y="7253360"/>
                  <a:pt x="0" y="6987976"/>
                </a:cubicBezTo>
                <a:cubicBezTo>
                  <a:pt x="-8602" y="6722592"/>
                  <a:pt x="4000" y="6636133"/>
                  <a:pt x="0" y="6373034"/>
                </a:cubicBezTo>
                <a:cubicBezTo>
                  <a:pt x="-4000" y="6109935"/>
                  <a:pt x="-25513" y="6045095"/>
                  <a:pt x="0" y="5758092"/>
                </a:cubicBezTo>
                <a:cubicBezTo>
                  <a:pt x="25513" y="5471089"/>
                  <a:pt x="-7551" y="5476090"/>
                  <a:pt x="0" y="5310862"/>
                </a:cubicBezTo>
                <a:cubicBezTo>
                  <a:pt x="7551" y="5145634"/>
                  <a:pt x="19639" y="4748803"/>
                  <a:pt x="0" y="4444353"/>
                </a:cubicBezTo>
                <a:cubicBezTo>
                  <a:pt x="-19639" y="4139903"/>
                  <a:pt x="-7248" y="3849816"/>
                  <a:pt x="0" y="3577844"/>
                </a:cubicBezTo>
                <a:cubicBezTo>
                  <a:pt x="7248" y="3305872"/>
                  <a:pt x="-365" y="3060120"/>
                  <a:pt x="0" y="2711335"/>
                </a:cubicBezTo>
                <a:cubicBezTo>
                  <a:pt x="365" y="2362550"/>
                  <a:pt x="-4208" y="2305604"/>
                  <a:pt x="0" y="2180248"/>
                </a:cubicBezTo>
                <a:cubicBezTo>
                  <a:pt x="4208" y="2054892"/>
                  <a:pt x="5759" y="1620935"/>
                  <a:pt x="0" y="1313739"/>
                </a:cubicBezTo>
                <a:cubicBezTo>
                  <a:pt x="-5759" y="1006543"/>
                  <a:pt x="-6559" y="912821"/>
                  <a:pt x="0" y="698798"/>
                </a:cubicBezTo>
                <a:cubicBezTo>
                  <a:pt x="6559" y="484775"/>
                  <a:pt x="-33287" y="216717"/>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190" name="Google Shape;190;p9"/>
          <p:cNvGraphicFramePr/>
          <p:nvPr/>
        </p:nvGraphicFramePr>
        <p:xfrm>
          <a:off x="7066570" y="3637037"/>
          <a:ext cx="3000000" cy="3000000"/>
        </p:xfrm>
        <a:graphic>
          <a:graphicData uri="http://schemas.openxmlformats.org/drawingml/2006/table">
            <a:tbl>
              <a:tblPr>
                <a:noFill/>
                <a:tableStyleId>{FA57D397-950B-48B9-8D01-CE271BCBC326}</a:tableStyleId>
              </a:tblPr>
              <a:tblGrid>
                <a:gridCol w="10031000"/>
              </a:tblGrid>
              <a:tr h="3004300">
                <a:tc>
                  <a:txBody>
                    <a:bodyPr/>
                    <a:lstStyle/>
                    <a:p>
                      <a:pPr indent="0" lvl="0" marL="0" marR="0" rtl="0" algn="l">
                        <a:lnSpc>
                          <a:spcPct val="107000"/>
                        </a:lnSpc>
                        <a:spcBef>
                          <a:spcPts val="0"/>
                        </a:spcBef>
                        <a:spcAft>
                          <a:spcPts val="0"/>
                        </a:spcAft>
                        <a:buClr>
                          <a:schemeClr val="dk1"/>
                        </a:buClr>
                        <a:buSzPts val="4000"/>
                        <a:buFont typeface="Calibri"/>
                        <a:buNone/>
                      </a:pPr>
                      <a:r>
                        <a:t/>
                      </a:r>
                      <a:endParaRPr sz="4000" u="none" cap="none" strike="noStrike">
                        <a:latin typeface="Times New Roman"/>
                        <a:ea typeface="Times New Roman"/>
                        <a:cs typeface="Times New Roman"/>
                        <a:sym typeface="Times New Roman"/>
                      </a:endParaRPr>
                    </a:p>
                    <a:p>
                      <a:pPr indent="0" lvl="0" marL="0" marR="0" rtl="0" algn="l">
                        <a:lnSpc>
                          <a:spcPct val="107000"/>
                        </a:lnSpc>
                        <a:spcBef>
                          <a:spcPts val="800"/>
                        </a:spcBef>
                        <a:spcAft>
                          <a:spcPts val="0"/>
                        </a:spcAft>
                        <a:buClr>
                          <a:schemeClr val="dk1"/>
                        </a:buClr>
                        <a:buSzPts val="4000"/>
                        <a:buFont typeface="Times New Roman"/>
                        <a:buNone/>
                      </a:pPr>
                      <a:r>
                        <a:rPr lang="en-US" sz="4000" u="none" cap="none" strike="noStrike">
                          <a:latin typeface="Times New Roman"/>
                          <a:ea typeface="Times New Roman"/>
                          <a:cs typeface="Times New Roman"/>
                          <a:sym typeface="Times New Roman"/>
                        </a:rPr>
                        <a:t>Vì sao AI có thể nhận sai?</a:t>
                      </a:r>
                      <a:endParaRPr sz="1400" u="none" cap="none" strike="noStrike"/>
                    </a:p>
                    <a:p>
                      <a:pPr indent="0" lvl="0" marL="0" marR="0" rtl="0" algn="l">
                        <a:lnSpc>
                          <a:spcPct val="107000"/>
                        </a:lnSpc>
                        <a:spcBef>
                          <a:spcPts val="800"/>
                        </a:spcBef>
                        <a:spcAft>
                          <a:spcPts val="0"/>
                        </a:spcAft>
                        <a:buClr>
                          <a:schemeClr val="dk1"/>
                        </a:buClr>
                        <a:buSzPts val="4000"/>
                        <a:buFont typeface="Times New Roman"/>
                        <a:buNone/>
                      </a:pPr>
                      <a:r>
                        <a:rPr lang="en-US" sz="4000" u="none" cap="none" strike="noStrike">
                          <a:latin typeface="Times New Roman"/>
                          <a:ea typeface="Times New Roman"/>
                          <a:cs typeface="Times New Roman"/>
                          <a:sym typeface="Times New Roman"/>
                        </a:rPr>
                        <a:t>Các em có tin 100% vào kết quả AI không?</a:t>
                      </a:r>
                      <a:endParaRPr sz="1400" u="none" cap="none" strike="noStrike"/>
                    </a:p>
                    <a:p>
                      <a:pPr indent="0" lvl="0" marL="0" marR="0" rtl="0" algn="l">
                        <a:lnSpc>
                          <a:spcPct val="107000"/>
                        </a:lnSpc>
                        <a:spcBef>
                          <a:spcPts val="800"/>
                        </a:spcBef>
                        <a:spcAft>
                          <a:spcPts val="0"/>
                        </a:spcAft>
                        <a:buClr>
                          <a:schemeClr val="dk1"/>
                        </a:buClr>
                        <a:buSzPts val="4000"/>
                        <a:buFont typeface="Calibri"/>
                        <a:buNone/>
                      </a:pPr>
                      <a:r>
                        <a:t/>
                      </a:r>
                      <a:endParaRPr sz="4000" u="none" cap="none" strike="noStrike">
                        <a:latin typeface="Times New Roman"/>
                        <a:ea typeface="Times New Roman"/>
                        <a:cs typeface="Times New Roman"/>
                        <a:sym typeface="Times New Roman"/>
                      </a:endParaRPr>
                    </a:p>
                  </a:txBody>
                  <a:tcPr marT="0" marB="0" marR="290150" marL="290150">
                    <a:solidFill>
                      <a:srgbClr val="CDEBED"/>
                    </a:solidFill>
                  </a:tcPr>
                </a:tc>
              </a:tr>
            </a:tbl>
          </a:graphicData>
        </a:graphic>
      </p:graphicFrame>
      <p:sp>
        <p:nvSpPr>
          <p:cNvPr id="191" name="Google Shape;191;p9"/>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3">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9"/>
          <p:cNvSpPr/>
          <p:nvPr/>
        </p:nvSpPr>
        <p:spPr>
          <a:xfrm>
            <a:off x="889729" y="2362200"/>
            <a:ext cx="4791540" cy="5562600"/>
          </a:xfrm>
          <a:custGeom>
            <a:rect b="b" l="l" r="r" t="t"/>
            <a:pathLst>
              <a:path extrusionOk="0" h="5143500" w="4256246">
                <a:moveTo>
                  <a:pt x="0" y="0"/>
                </a:moveTo>
                <a:lnTo>
                  <a:pt x="4256246" y="0"/>
                </a:lnTo>
                <a:lnTo>
                  <a:pt x="4256246" y="5143500"/>
                </a:lnTo>
                <a:lnTo>
                  <a:pt x="0" y="51435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10"/>
          <p:cNvSpPr/>
          <p:nvPr/>
        </p:nvSpPr>
        <p:spPr>
          <a:xfrm>
            <a:off x="0" y="6672745"/>
            <a:ext cx="8445946" cy="3663429"/>
          </a:xfrm>
          <a:custGeom>
            <a:rect b="b" l="l" r="r" t="t"/>
            <a:pathLst>
              <a:path extrusionOk="0" h="3663429" w="8445946">
                <a:moveTo>
                  <a:pt x="0" y="0"/>
                </a:moveTo>
                <a:lnTo>
                  <a:pt x="8445946" y="0"/>
                </a:lnTo>
                <a:lnTo>
                  <a:pt x="8445946" y="3663429"/>
                </a:lnTo>
                <a:lnTo>
                  <a:pt x="0" y="366342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p10"/>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4">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p:nvPr/>
        </p:nvSpPr>
        <p:spPr>
          <a:xfrm>
            <a:off x="1139820" y="2155135"/>
            <a:ext cx="5688189" cy="5579165"/>
          </a:xfrm>
          <a:custGeom>
            <a:rect b="b" l="l" r="r" t="t"/>
            <a:pathLst>
              <a:path extrusionOk="0" h="5579165" w="5688189">
                <a:moveTo>
                  <a:pt x="0" y="0"/>
                </a:moveTo>
                <a:lnTo>
                  <a:pt x="5688189" y="0"/>
                </a:lnTo>
                <a:lnTo>
                  <a:pt x="5688189" y="5579165"/>
                </a:lnTo>
                <a:lnTo>
                  <a:pt x="0" y="557916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10"/>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0"/>
          <p:cNvSpPr/>
          <p:nvPr/>
        </p:nvSpPr>
        <p:spPr>
          <a:xfrm rot="10800000">
            <a:off x="9843191" y="0"/>
            <a:ext cx="8444809" cy="3662936"/>
          </a:xfrm>
          <a:custGeom>
            <a:rect b="b" l="l" r="r" t="t"/>
            <a:pathLst>
              <a:path extrusionOk="0" h="3662936" w="8444809">
                <a:moveTo>
                  <a:pt x="0" y="0"/>
                </a:moveTo>
                <a:lnTo>
                  <a:pt x="8444809" y="0"/>
                </a:lnTo>
                <a:lnTo>
                  <a:pt x="8444809" y="3662936"/>
                </a:lnTo>
                <a:lnTo>
                  <a:pt x="0" y="36629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10"/>
          <p:cNvSpPr txBox="1"/>
          <p:nvPr/>
        </p:nvSpPr>
        <p:spPr>
          <a:xfrm>
            <a:off x="7094662" y="3425226"/>
            <a:ext cx="10861030" cy="26211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5305"/>
              <a:buFont typeface="Arial"/>
              <a:buNone/>
            </a:pPr>
            <a:r>
              <a:rPr b="1" i="0" lang="en-US" sz="15305" u="none" cap="none" strike="noStrike">
                <a:solidFill>
                  <a:srgbClr val="000000"/>
                </a:solidFill>
                <a:latin typeface="Noto Sans"/>
                <a:ea typeface="Noto Sans"/>
                <a:cs typeface="Noto Sans"/>
                <a:sym typeface="Noto Sans"/>
              </a:rPr>
              <a:t>GIẢI THÍCH</a:t>
            </a:r>
            <a:endParaRPr b="0" i="0" sz="1400" u="none" cap="none" strike="noStrike">
              <a:solidFill>
                <a:srgbClr val="000000"/>
              </a:solidFill>
              <a:latin typeface="Arial"/>
              <a:ea typeface="Arial"/>
              <a:cs typeface="Arial"/>
              <a:sym typeface="Arial"/>
            </a:endParaRPr>
          </a:p>
        </p:txBody>
      </p:sp>
      <p:sp>
        <p:nvSpPr>
          <p:cNvPr id="203" name="Google Shape;203;p10"/>
          <p:cNvSpPr txBox="1"/>
          <p:nvPr/>
        </p:nvSpPr>
        <p:spPr>
          <a:xfrm>
            <a:off x="3714285" y="3934110"/>
            <a:ext cx="726281" cy="170815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999"/>
              <a:buFont typeface="Arial"/>
              <a:buNone/>
            </a:pPr>
            <a:r>
              <a:rPr b="1" i="0" lang="en-US" sz="9999" u="none" cap="none" strike="noStrike">
                <a:solidFill>
                  <a:srgbClr val="000000"/>
                </a:solidFill>
                <a:latin typeface="Noto Sans"/>
                <a:ea typeface="Noto Sans"/>
                <a:cs typeface="Noto Sans"/>
                <a:sym typeface="Noto Sans"/>
              </a:rPr>
              <a:t>3</a:t>
            </a:r>
            <a:endParaRPr b="0" i="0" sz="1400" u="none" cap="none" strike="noStrike">
              <a:solidFill>
                <a:srgbClr val="000000"/>
              </a:solidFill>
              <a:latin typeface="Arial"/>
              <a:ea typeface="Arial"/>
              <a:cs typeface="Arial"/>
              <a:sym typeface="Arial"/>
            </a:endParaRPr>
          </a:p>
        </p:txBody>
      </p:sp>
      <p:sp>
        <p:nvSpPr>
          <p:cNvPr id="204" name="Google Shape;204;p10"/>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10"/>
          <p:cNvSpPr/>
          <p:nvPr/>
        </p:nvSpPr>
        <p:spPr>
          <a:xfrm>
            <a:off x="16385986" y="755603"/>
            <a:ext cx="1231512" cy="1205342"/>
          </a:xfrm>
          <a:custGeom>
            <a:rect b="b" l="l" r="r" t="t"/>
            <a:pathLst>
              <a:path extrusionOk="0" h="1205342" w="1231512">
                <a:moveTo>
                  <a:pt x="0" y="0"/>
                </a:moveTo>
                <a:lnTo>
                  <a:pt x="1231512" y="0"/>
                </a:lnTo>
                <a:lnTo>
                  <a:pt x="1231512" y="1205342"/>
                </a:lnTo>
                <a:lnTo>
                  <a:pt x="0" y="120534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10"/>
          <p:cNvSpPr/>
          <p:nvPr/>
        </p:nvSpPr>
        <p:spPr>
          <a:xfrm>
            <a:off x="14215709" y="6375906"/>
            <a:ext cx="3739983" cy="3911094"/>
          </a:xfrm>
          <a:custGeom>
            <a:rect b="b" l="l" r="r" t="t"/>
            <a:pathLst>
              <a:path extrusionOk="0" h="3911094" w="3739983">
                <a:moveTo>
                  <a:pt x="0" y="0"/>
                </a:moveTo>
                <a:lnTo>
                  <a:pt x="3739984" y="0"/>
                </a:lnTo>
                <a:lnTo>
                  <a:pt x="3739984" y="3911094"/>
                </a:lnTo>
                <a:lnTo>
                  <a:pt x="0" y="391109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1"/>
          <p:cNvSpPr/>
          <p:nvPr/>
        </p:nvSpPr>
        <p:spPr>
          <a:xfrm>
            <a:off x="0" y="12469"/>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11"/>
          <p:cNvSpPr txBox="1"/>
          <p:nvPr>
            <p:ph type="title"/>
          </p:nvPr>
        </p:nvSpPr>
        <p:spPr>
          <a:xfrm>
            <a:off x="719091" y="1606200"/>
            <a:ext cx="5909532" cy="8374689"/>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12000"/>
              <a:buFont typeface="Calibri"/>
              <a:buNone/>
            </a:pPr>
            <a:r>
              <a:rPr lang="en-US" sz="12000">
                <a:solidFill>
                  <a:schemeClr val="dk1"/>
                </a:solidFill>
                <a:latin typeface="Arial"/>
                <a:ea typeface="Arial"/>
                <a:cs typeface="Arial"/>
                <a:sym typeface="Arial"/>
              </a:rPr>
              <a:t>AI NHẬN DIỆN HÌNH ẢNH</a:t>
            </a:r>
            <a:endParaRPr>
              <a:latin typeface="Arial"/>
              <a:ea typeface="Arial"/>
              <a:cs typeface="Arial"/>
              <a:sym typeface="Arial"/>
            </a:endParaRPr>
          </a:p>
        </p:txBody>
      </p:sp>
      <p:cxnSp>
        <p:nvCxnSpPr>
          <p:cNvPr id="213" name="Google Shape;213;p11"/>
          <p:cNvCxnSpPr/>
          <p:nvPr/>
        </p:nvCxnSpPr>
        <p:spPr>
          <a:xfrm>
            <a:off x="7092079" y="1698171"/>
            <a:ext cx="0" cy="8576359"/>
          </a:xfrm>
          <a:prstGeom prst="straightConnector1">
            <a:avLst/>
          </a:prstGeom>
          <a:noFill/>
          <a:ln cap="sq" cmpd="sng" w="25400">
            <a:solidFill>
              <a:schemeClr val="accent1"/>
            </a:solidFill>
            <a:prstDash val="solid"/>
            <a:bevel/>
            <a:headEnd len="sm" w="sm" type="none"/>
            <a:tailEnd len="sm" w="sm" type="none"/>
          </a:ln>
        </p:spPr>
      </p:cxnSp>
      <p:grpSp>
        <p:nvGrpSpPr>
          <p:cNvPr id="214" name="Google Shape;214;p11"/>
          <p:cNvGrpSpPr/>
          <p:nvPr/>
        </p:nvGrpSpPr>
        <p:grpSpPr>
          <a:xfrm>
            <a:off x="7662802" y="1607223"/>
            <a:ext cx="9367898" cy="8381973"/>
            <a:chOff x="0" y="1023"/>
            <a:chExt cx="9367898" cy="8381973"/>
          </a:xfrm>
        </p:grpSpPr>
        <p:sp>
          <p:nvSpPr>
            <p:cNvPr id="215" name="Google Shape;215;p11"/>
            <p:cNvSpPr/>
            <p:nvPr/>
          </p:nvSpPr>
          <p:spPr>
            <a:xfrm>
              <a:off x="0" y="1023"/>
              <a:ext cx="9367898" cy="2394849"/>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1"/>
            <p:cNvSpPr/>
            <p:nvPr/>
          </p:nvSpPr>
          <p:spPr>
            <a:xfrm>
              <a:off x="724441" y="539864"/>
              <a:ext cx="1317167" cy="1317167"/>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1"/>
            <p:cNvSpPr/>
            <p:nvPr/>
          </p:nvSpPr>
          <p:spPr>
            <a:xfrm>
              <a:off x="2766051" y="1023"/>
              <a:ext cx="6601846" cy="239484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1"/>
            <p:cNvSpPr txBox="1"/>
            <p:nvPr/>
          </p:nvSpPr>
          <p:spPr>
            <a:xfrm>
              <a:off x="2766051" y="1023"/>
              <a:ext cx="6601846" cy="2394849"/>
            </a:xfrm>
            <a:prstGeom prst="rect">
              <a:avLst/>
            </a:prstGeom>
            <a:noFill/>
            <a:ln>
              <a:noFill/>
            </a:ln>
          </p:spPr>
          <p:txBody>
            <a:bodyPr anchorCtr="0" anchor="ctr" bIns="253450" lIns="253450" spcFirstLastPara="1" rIns="253450" wrap="square" tIns="253450">
              <a:noAutofit/>
            </a:bodyPr>
            <a:lstStyle/>
            <a:p>
              <a:pPr indent="0" lvl="0" marL="0" marR="0" rtl="0" algn="l">
                <a:lnSpc>
                  <a:spcPct val="100000"/>
                </a:lnSpc>
                <a:spcBef>
                  <a:spcPts val="0"/>
                </a:spcBef>
                <a:spcAft>
                  <a:spcPts val="0"/>
                </a:spcAft>
                <a:buClr>
                  <a:schemeClr val="dk1"/>
                </a:buClr>
                <a:buSzPts val="2500"/>
                <a:buFont typeface="Calibri"/>
                <a:buNone/>
              </a:pPr>
              <a:r>
                <a:rPr b="0" i="0" lang="en-US" sz="2500" u="none" cap="none" strike="noStrike">
                  <a:solidFill>
                    <a:schemeClr val="dk1"/>
                  </a:solidFill>
                  <a:latin typeface="Calibri"/>
                  <a:ea typeface="Calibri"/>
                  <a:cs typeface="Calibri"/>
                  <a:sym typeface="Calibri"/>
                </a:rPr>
                <a:t>AI học từ </a:t>
              </a:r>
              <a:r>
                <a:rPr b="1" i="0" lang="en-US" sz="2500" u="none" cap="none" strike="noStrike">
                  <a:solidFill>
                    <a:schemeClr val="dk1"/>
                  </a:solidFill>
                  <a:latin typeface="Calibri"/>
                  <a:ea typeface="Calibri"/>
                  <a:cs typeface="Calibri"/>
                  <a:sym typeface="Calibri"/>
                </a:rPr>
                <a:t>nhiều hình ảnh mẫu</a:t>
              </a:r>
              <a:r>
                <a:rPr b="0" i="0" lang="en-US" sz="2500" u="none" cap="none" strike="noStrike">
                  <a:solidFill>
                    <a:schemeClr val="dk1"/>
                  </a:solidFill>
                  <a:latin typeface="Calibri"/>
                  <a:ea typeface="Calibri"/>
                  <a:cs typeface="Calibri"/>
                  <a:sym typeface="Calibri"/>
                </a:rPr>
                <a:t> để phân biệt các vật thể.</a:t>
              </a:r>
              <a:endParaRPr b="0" i="0" sz="1400" u="none" cap="none" strike="noStrike">
                <a:solidFill>
                  <a:srgbClr val="000000"/>
                </a:solidFill>
                <a:latin typeface="Arial"/>
                <a:ea typeface="Arial"/>
                <a:cs typeface="Arial"/>
                <a:sym typeface="Arial"/>
              </a:endParaRPr>
            </a:p>
          </p:txBody>
        </p:sp>
        <p:sp>
          <p:nvSpPr>
            <p:cNvPr id="219" name="Google Shape;219;p11"/>
            <p:cNvSpPr/>
            <p:nvPr/>
          </p:nvSpPr>
          <p:spPr>
            <a:xfrm>
              <a:off x="0" y="2994585"/>
              <a:ext cx="9367898" cy="2394849"/>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1"/>
            <p:cNvSpPr/>
            <p:nvPr/>
          </p:nvSpPr>
          <p:spPr>
            <a:xfrm>
              <a:off x="724441" y="3533426"/>
              <a:ext cx="1317167" cy="1317167"/>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1"/>
            <p:cNvSpPr/>
            <p:nvPr/>
          </p:nvSpPr>
          <p:spPr>
            <a:xfrm>
              <a:off x="2766051" y="2994585"/>
              <a:ext cx="6601846" cy="239484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1"/>
            <p:cNvSpPr txBox="1"/>
            <p:nvPr/>
          </p:nvSpPr>
          <p:spPr>
            <a:xfrm>
              <a:off x="2766051" y="2994585"/>
              <a:ext cx="6601846" cy="2394849"/>
            </a:xfrm>
            <a:prstGeom prst="rect">
              <a:avLst/>
            </a:prstGeom>
            <a:noFill/>
            <a:ln>
              <a:noFill/>
            </a:ln>
          </p:spPr>
          <p:txBody>
            <a:bodyPr anchorCtr="0" anchor="ctr" bIns="253450" lIns="253450" spcFirstLastPara="1" rIns="253450" wrap="square" tIns="253450">
              <a:noAutofit/>
            </a:bodyPr>
            <a:lstStyle/>
            <a:p>
              <a:pPr indent="0" lvl="0" marL="0" marR="0" rtl="0" algn="l">
                <a:lnSpc>
                  <a:spcPct val="100000"/>
                </a:lnSpc>
                <a:spcBef>
                  <a:spcPts val="0"/>
                </a:spcBef>
                <a:spcAft>
                  <a:spcPts val="0"/>
                </a:spcAft>
                <a:buClr>
                  <a:schemeClr val="dk1"/>
                </a:buClr>
                <a:buSzPts val="2500"/>
                <a:buFont typeface="Calibri"/>
                <a:buNone/>
              </a:pPr>
              <a:r>
                <a:rPr b="0" i="0" lang="en-US" sz="2500" u="none" cap="none" strike="noStrike">
                  <a:solidFill>
                    <a:schemeClr val="dk1"/>
                  </a:solidFill>
                  <a:latin typeface="Calibri"/>
                  <a:ea typeface="Calibri"/>
                  <a:cs typeface="Calibri"/>
                  <a:sym typeface="Calibri"/>
                </a:rPr>
                <a:t>Khi gặp hình mới, AI so sánh với những gì nó đã học để đưa ra dự đoán.</a:t>
              </a:r>
              <a:endParaRPr b="0" i="0" sz="1400" u="none" cap="none" strike="noStrike">
                <a:solidFill>
                  <a:srgbClr val="000000"/>
                </a:solidFill>
                <a:latin typeface="Arial"/>
                <a:ea typeface="Arial"/>
                <a:cs typeface="Arial"/>
                <a:sym typeface="Arial"/>
              </a:endParaRPr>
            </a:p>
          </p:txBody>
        </p:sp>
        <p:sp>
          <p:nvSpPr>
            <p:cNvPr id="223" name="Google Shape;223;p11"/>
            <p:cNvSpPr/>
            <p:nvPr/>
          </p:nvSpPr>
          <p:spPr>
            <a:xfrm>
              <a:off x="0" y="5988147"/>
              <a:ext cx="9367898" cy="2394849"/>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1"/>
            <p:cNvSpPr/>
            <p:nvPr/>
          </p:nvSpPr>
          <p:spPr>
            <a:xfrm>
              <a:off x="724441" y="6526988"/>
              <a:ext cx="1317167" cy="1317167"/>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1"/>
            <p:cNvSpPr/>
            <p:nvPr/>
          </p:nvSpPr>
          <p:spPr>
            <a:xfrm>
              <a:off x="2766051" y="5988147"/>
              <a:ext cx="6601846" cy="239484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txBox="1"/>
            <p:nvPr/>
          </p:nvSpPr>
          <p:spPr>
            <a:xfrm>
              <a:off x="2766051" y="5988147"/>
              <a:ext cx="6601846" cy="2394849"/>
            </a:xfrm>
            <a:prstGeom prst="rect">
              <a:avLst/>
            </a:prstGeom>
            <a:noFill/>
            <a:ln>
              <a:noFill/>
            </a:ln>
          </p:spPr>
          <p:txBody>
            <a:bodyPr anchorCtr="0" anchor="ctr" bIns="253450" lIns="253450" spcFirstLastPara="1" rIns="253450" wrap="square" tIns="253450">
              <a:noAutofit/>
            </a:bodyPr>
            <a:lstStyle/>
            <a:p>
              <a:pPr indent="0" lvl="0" marL="0" marR="0" rtl="0" algn="l">
                <a:lnSpc>
                  <a:spcPct val="100000"/>
                </a:lnSpc>
                <a:spcBef>
                  <a:spcPts val="0"/>
                </a:spcBef>
                <a:spcAft>
                  <a:spcPts val="0"/>
                </a:spcAft>
                <a:buClr>
                  <a:schemeClr val="dk1"/>
                </a:buClr>
                <a:buSzPts val="2500"/>
                <a:buFont typeface="Calibri"/>
                <a:buNone/>
              </a:pPr>
              <a:r>
                <a:rPr b="0" i="0" lang="en-US" sz="2500" u="none" cap="none" strike="noStrike">
                  <a:solidFill>
                    <a:schemeClr val="dk1"/>
                  </a:solidFill>
                  <a:latin typeface="Calibri"/>
                  <a:ea typeface="Calibri"/>
                  <a:cs typeface="Calibri"/>
                  <a:sym typeface="Calibri"/>
                </a:rPr>
                <a:t>Nếu hình ảnh quá mờ, thiếu dữ liệu hoặc chụp từ góc lạ, AI có thể nhầm.</a:t>
              </a:r>
              <a:endParaRPr b="0" i="0" sz="1400" u="none" cap="none" strike="noStrike">
                <a:solidFill>
                  <a:srgbClr val="000000"/>
                </a:solidFill>
                <a:latin typeface="Arial"/>
                <a:ea typeface="Arial"/>
                <a:cs typeface="Arial"/>
                <a:sym typeface="Arial"/>
              </a:endParaRPr>
            </a:p>
          </p:txBody>
        </p:sp>
      </p:grpSp>
      <p:sp>
        <p:nvSpPr>
          <p:cNvPr id="227" name="Google Shape;227;p11"/>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6">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2"/>
          <p:cNvSpPr/>
          <p:nvPr/>
        </p:nvSpPr>
        <p:spPr>
          <a:xfrm>
            <a:off x="0" y="0"/>
            <a:ext cx="18288000" cy="1028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12"/>
          <p:cNvSpPr txBox="1"/>
          <p:nvPr>
            <p:ph type="ctrTitle"/>
          </p:nvPr>
        </p:nvSpPr>
        <p:spPr>
          <a:xfrm>
            <a:off x="1246975" y="2032228"/>
            <a:ext cx="15542297" cy="40175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6800"/>
              <a:buFont typeface="Calibri"/>
              <a:buNone/>
            </a:pPr>
            <a:r>
              <a:rPr i="1" lang="en-US" sz="6800">
                <a:solidFill>
                  <a:schemeClr val="lt1"/>
                </a:solidFill>
              </a:rPr>
              <a:t>Nếu AI học từ 1000 ảnh quả táo, khi gặp ảnh quả táo mới, AI dễ nhận đúng. Nhưng nếu ảnh bị che khuất hoặc chưa có trong dữ liệu, AI có thể nhận sai.</a:t>
            </a:r>
            <a:endParaRPr sz="6800">
              <a:solidFill>
                <a:schemeClr val="lt1"/>
              </a:solidFill>
            </a:endParaRPr>
          </a:p>
        </p:txBody>
      </p:sp>
      <p:sp>
        <p:nvSpPr>
          <p:cNvPr id="234" name="Google Shape;234;p12"/>
          <p:cNvSpPr txBox="1"/>
          <p:nvPr>
            <p:ph idx="1" type="subTitle"/>
          </p:nvPr>
        </p:nvSpPr>
        <p:spPr>
          <a:xfrm>
            <a:off x="1240632" y="6621270"/>
            <a:ext cx="10510036" cy="132680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None/>
            </a:pPr>
            <a:r>
              <a:rPr i="1" lang="en-US">
                <a:solidFill>
                  <a:schemeClr val="lt1"/>
                </a:solidFill>
              </a:rPr>
              <a:t>“AI thông minh, nhưng không hoàn hảo, nên chúng ta phải kiểm tra kết quả.</a:t>
            </a:r>
            <a:endParaRPr>
              <a:solidFill>
                <a:schemeClr val="lt1"/>
              </a:solidFill>
            </a:endParaRPr>
          </a:p>
        </p:txBody>
      </p:sp>
      <p:grpSp>
        <p:nvGrpSpPr>
          <p:cNvPr id="235" name="Google Shape;235;p12"/>
          <p:cNvGrpSpPr/>
          <p:nvPr/>
        </p:nvGrpSpPr>
        <p:grpSpPr>
          <a:xfrm>
            <a:off x="17218522" y="0"/>
            <a:ext cx="1069478" cy="10287000"/>
            <a:chOff x="11479015" y="0"/>
            <a:chExt cx="712985" cy="6858000"/>
          </a:xfrm>
        </p:grpSpPr>
        <p:sp>
          <p:nvSpPr>
            <p:cNvPr id="236" name="Google Shape;236;p12"/>
            <p:cNvSpPr/>
            <p:nvPr/>
          </p:nvSpPr>
          <p:spPr>
            <a:xfrm>
              <a:off x="11479018" y="0"/>
              <a:ext cx="712982" cy="6858000"/>
            </a:xfrm>
            <a:custGeom>
              <a:rect b="b" l="l" r="r" t="t"/>
              <a:pathLst>
                <a:path extrusionOk="0" h="6858000" w="712982">
                  <a:moveTo>
                    <a:pt x="280560" y="0"/>
                  </a:moveTo>
                  <a:lnTo>
                    <a:pt x="712982" y="0"/>
                  </a:lnTo>
                  <a:lnTo>
                    <a:pt x="712982"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solidFill>
              <a:srgbClr val="FFFFFF"/>
            </a:solidFill>
            <a:ln>
              <a:noFill/>
            </a:ln>
            <a:effectLst>
              <a:outerShdw blurRad="381000" rotWithShape="0" algn="ctr" dir="10800000" dist="152400">
                <a:schemeClr val="lt1">
                  <a:alpha val="9411"/>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p12"/>
            <p:cNvSpPr/>
            <p:nvPr/>
          </p:nvSpPr>
          <p:spPr>
            <a:xfrm>
              <a:off x="11479015" y="0"/>
              <a:ext cx="712985" cy="6858000"/>
            </a:xfrm>
            <a:custGeom>
              <a:rect b="b" l="l" r="r" t="t"/>
              <a:pathLst>
                <a:path extrusionOk="0" h="6858000" w="712985">
                  <a:moveTo>
                    <a:pt x="280560" y="0"/>
                  </a:moveTo>
                  <a:lnTo>
                    <a:pt x="712985" y="0"/>
                  </a:lnTo>
                  <a:lnTo>
                    <a:pt x="712985"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blipFill rotWithShape="1">
              <a:blip r:embed="rId3">
                <a:alphaModFix amt="57000"/>
              </a:blip>
              <a:tile algn="tl" flip="none" tx="0" sx="100000" ty="0" sy="100000"/>
            </a:blipFill>
            <a:ln>
              <a:noFill/>
            </a:ln>
            <a:effectLst>
              <a:outerShdw blurRad="381000" rotWithShape="0" algn="ctr" dir="10800000" dist="152400">
                <a:schemeClr val="lt1">
                  <a:alpha val="9411"/>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pic>
        <p:nvPicPr>
          <p:cNvPr descr="A close up of a cat's tail&#10;&#10;AI-generated content may be incorrect." id="242" name="Google Shape;242;p13"/>
          <p:cNvPicPr preferRelativeResize="0"/>
          <p:nvPr/>
        </p:nvPicPr>
        <p:blipFill rotWithShape="1">
          <a:blip r:embed="rId3">
            <a:alphaModFix/>
          </a:blip>
          <a:srcRect b="0" l="0" r="0" t="0"/>
          <a:stretch/>
        </p:blipFill>
        <p:spPr>
          <a:xfrm>
            <a:off x="685803" y="738369"/>
            <a:ext cx="8140146" cy="3846218"/>
          </a:xfrm>
          <a:prstGeom prst="rect">
            <a:avLst/>
          </a:prstGeom>
          <a:noFill/>
          <a:ln>
            <a:noFill/>
          </a:ln>
        </p:spPr>
      </p:pic>
      <p:pic>
        <p:nvPicPr>
          <p:cNvPr descr="A black background with white text&#10;&#10;AI-generated content may be incorrect." id="243" name="Google Shape;243;p13"/>
          <p:cNvPicPr preferRelativeResize="0"/>
          <p:nvPr/>
        </p:nvPicPr>
        <p:blipFill rotWithShape="1">
          <a:blip r:embed="rId4">
            <a:alphaModFix/>
          </a:blip>
          <a:srcRect b="0" l="0" r="0" t="0"/>
          <a:stretch/>
        </p:blipFill>
        <p:spPr>
          <a:xfrm>
            <a:off x="685801" y="6346918"/>
            <a:ext cx="8140146" cy="2340292"/>
          </a:xfrm>
          <a:prstGeom prst="rect">
            <a:avLst/>
          </a:prstGeom>
          <a:noFill/>
          <a:ln>
            <a:noFill/>
          </a:ln>
        </p:spPr>
      </p:pic>
      <p:sp>
        <p:nvSpPr>
          <p:cNvPr id="244" name="Google Shape;244;p13"/>
          <p:cNvSpPr/>
          <p:nvPr/>
        </p:nvSpPr>
        <p:spPr>
          <a:xfrm>
            <a:off x="9075420" y="0"/>
            <a:ext cx="137160" cy="10287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3"/>
          <p:cNvSpPr/>
          <p:nvPr/>
        </p:nvSpPr>
        <p:spPr>
          <a:xfrm>
            <a:off x="0" y="5074920"/>
            <a:ext cx="9189720" cy="13716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cat sitting on a surface&#10;&#10;AI-generated content may be incorrect." id="246" name="Google Shape;246;p13"/>
          <p:cNvPicPr preferRelativeResize="0"/>
          <p:nvPr/>
        </p:nvPicPr>
        <p:blipFill rotWithShape="1">
          <a:blip r:embed="rId5">
            <a:alphaModFix/>
          </a:blip>
          <a:srcRect b="0" l="0" r="0" t="0"/>
          <a:stretch/>
        </p:blipFill>
        <p:spPr>
          <a:xfrm>
            <a:off x="9462051" y="2318269"/>
            <a:ext cx="8140146" cy="5433547"/>
          </a:xfrm>
          <a:prstGeom prst="rect">
            <a:avLst/>
          </a:prstGeom>
          <a:noFill/>
          <a:ln>
            <a:noFill/>
          </a:ln>
        </p:spPr>
      </p:pic>
      <p:sp>
        <p:nvSpPr>
          <p:cNvPr id="247" name="Google Shape;247;p13"/>
          <p:cNvSpPr/>
          <p:nvPr/>
        </p:nvSpPr>
        <p:spPr>
          <a:xfrm>
            <a:off x="16546641" y="52569"/>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6">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2" name="Shape 252"/>
        <p:cNvGrpSpPr/>
        <p:nvPr/>
      </p:nvGrpSpPr>
      <p:grpSpPr>
        <a:xfrm>
          <a:off x="0" y="0"/>
          <a:ext cx="0" cy="0"/>
          <a:chOff x="0" y="0"/>
          <a:chExt cx="0" cy="0"/>
        </a:xfrm>
      </p:grpSpPr>
      <p:sp>
        <p:nvSpPr>
          <p:cNvPr id="253" name="Google Shape;253;p14"/>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14"/>
          <p:cNvSpPr txBox="1"/>
          <p:nvPr/>
        </p:nvSpPr>
        <p:spPr>
          <a:xfrm>
            <a:off x="1257300" y="582462"/>
            <a:ext cx="8249955" cy="1532136"/>
          </a:xfrm>
          <a:prstGeom prst="rect">
            <a:avLst/>
          </a:prstGeom>
          <a:noFill/>
          <a:ln>
            <a:noFill/>
          </a:ln>
        </p:spPr>
        <p:txBody>
          <a:bodyPr anchorCtr="0" anchor="b" bIns="45700" lIns="91425" spcFirstLastPara="1" rIns="91425" wrap="square" tIns="45700">
            <a:normAutofit/>
          </a:bodyPr>
          <a:lstStyle/>
          <a:p>
            <a:pPr indent="0" lvl="0" marL="0" marR="0" rtl="0" algn="r">
              <a:lnSpc>
                <a:spcPct val="90000"/>
              </a:lnSpc>
              <a:spcBef>
                <a:spcPts val="0"/>
              </a:spcBef>
              <a:spcAft>
                <a:spcPts val="0"/>
              </a:spcAft>
              <a:buClr>
                <a:srgbClr val="000000"/>
              </a:buClr>
              <a:buSzPts val="6000"/>
              <a:buFont typeface="Arial"/>
              <a:buNone/>
            </a:pPr>
            <a:r>
              <a:rPr b="1" i="0" lang="en-US" sz="6000" u="none" cap="none" strike="noStrike">
                <a:solidFill>
                  <a:schemeClr val="lt1"/>
                </a:solidFill>
                <a:latin typeface="Calibri"/>
                <a:ea typeface="Calibri"/>
                <a:cs typeface="Calibri"/>
                <a:sym typeface="Calibri"/>
              </a:rPr>
              <a:t>Kết luận</a:t>
            </a:r>
            <a:endParaRPr b="1" i="0" sz="6000" u="none" cap="none" strike="noStrike">
              <a:solidFill>
                <a:schemeClr val="lt1"/>
              </a:solidFill>
              <a:latin typeface="Calibri"/>
              <a:ea typeface="Calibri"/>
              <a:cs typeface="Calibri"/>
              <a:sym typeface="Calibri"/>
            </a:endParaRPr>
          </a:p>
        </p:txBody>
      </p:sp>
      <p:cxnSp>
        <p:nvCxnSpPr>
          <p:cNvPr id="255" name="Google Shape;255;p14"/>
          <p:cNvCxnSpPr/>
          <p:nvPr/>
        </p:nvCxnSpPr>
        <p:spPr>
          <a:xfrm rot="10800000">
            <a:off x="189315" y="2160876"/>
            <a:ext cx="9317940" cy="0"/>
          </a:xfrm>
          <a:prstGeom prst="straightConnector1">
            <a:avLst/>
          </a:prstGeom>
          <a:noFill/>
          <a:ln cap="flat" cmpd="sng" w="12700">
            <a:solidFill>
              <a:schemeClr val="accent2"/>
            </a:solidFill>
            <a:prstDash val="solid"/>
            <a:round/>
            <a:headEnd len="sm" w="sm" type="none"/>
            <a:tailEnd len="sm" w="sm" type="none"/>
          </a:ln>
        </p:spPr>
      </p:cxnSp>
      <p:sp>
        <p:nvSpPr>
          <p:cNvPr id="256" name="Google Shape;256;p14"/>
          <p:cNvSpPr/>
          <p:nvPr/>
        </p:nvSpPr>
        <p:spPr>
          <a:xfrm>
            <a:off x="189309" y="172789"/>
            <a:ext cx="17909382" cy="9941421"/>
          </a:xfrm>
          <a:prstGeom prst="rect">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7" name="Google Shape;257;p14"/>
          <p:cNvSpPr/>
          <p:nvPr/>
        </p:nvSpPr>
        <p:spPr>
          <a:xfrm>
            <a:off x="16542067" y="14202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3">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58" name="Google Shape;258;p14"/>
          <p:cNvGrpSpPr/>
          <p:nvPr/>
        </p:nvGrpSpPr>
        <p:grpSpPr>
          <a:xfrm>
            <a:off x="2090079" y="2883906"/>
            <a:ext cx="14107841" cy="5643136"/>
            <a:chOff x="1722" y="359781"/>
            <a:chExt cx="14107841" cy="5643136"/>
          </a:xfrm>
        </p:grpSpPr>
        <p:sp>
          <p:nvSpPr>
            <p:cNvPr id="259" name="Google Shape;259;p14"/>
            <p:cNvSpPr/>
            <p:nvPr/>
          </p:nvSpPr>
          <p:spPr>
            <a:xfrm>
              <a:off x="1722" y="359781"/>
              <a:ext cx="5643136" cy="5643136"/>
            </a:xfrm>
            <a:prstGeom prst="ellipse">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4"/>
            <p:cNvSpPr txBox="1"/>
            <p:nvPr/>
          </p:nvSpPr>
          <p:spPr>
            <a:xfrm>
              <a:off x="828140" y="1186199"/>
              <a:ext cx="3990300" cy="3990300"/>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3900"/>
                <a:buFont typeface="Calibri"/>
                <a:buNone/>
              </a:pPr>
              <a:r>
                <a:rPr b="0" i="0" lang="en-US" sz="3900" u="none" cap="none" strike="noStrike">
                  <a:solidFill>
                    <a:schemeClr val="lt1"/>
                  </a:solidFill>
                  <a:latin typeface="Calibri"/>
                  <a:ea typeface="Calibri"/>
                  <a:cs typeface="Calibri"/>
                  <a:sym typeface="Calibri"/>
                </a:rPr>
                <a:t>AI rất hữu ích trong việc nhận diện hình ảnh.</a:t>
              </a:r>
              <a:endParaRPr b="0" i="0" sz="1400" u="none" cap="none" strike="noStrike">
                <a:solidFill>
                  <a:srgbClr val="000000"/>
                </a:solidFill>
                <a:latin typeface="Arial"/>
                <a:ea typeface="Arial"/>
                <a:cs typeface="Arial"/>
                <a:sym typeface="Arial"/>
              </a:endParaRPr>
            </a:p>
          </p:txBody>
        </p:sp>
        <p:sp>
          <p:nvSpPr>
            <p:cNvPr id="261" name="Google Shape;261;p14"/>
            <p:cNvSpPr/>
            <p:nvPr/>
          </p:nvSpPr>
          <p:spPr>
            <a:xfrm rot="5400000">
              <a:off x="6110418" y="2433634"/>
              <a:ext cx="1975097" cy="1495431"/>
            </a:xfrm>
            <a:prstGeom prst="triangle">
              <a:avLst>
                <a:gd fmla="val 50000" name="adj"/>
              </a:avLst>
            </a:prstGeom>
            <a:solidFill>
              <a:srgbClr val="BF50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4"/>
            <p:cNvSpPr/>
            <p:nvPr/>
          </p:nvSpPr>
          <p:spPr>
            <a:xfrm>
              <a:off x="8466427" y="359781"/>
              <a:ext cx="5643136" cy="5643136"/>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4"/>
            <p:cNvSpPr txBox="1"/>
            <p:nvPr/>
          </p:nvSpPr>
          <p:spPr>
            <a:xfrm>
              <a:off x="9292845" y="1186199"/>
              <a:ext cx="3990300" cy="3990300"/>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3900"/>
                <a:buFont typeface="Calibri"/>
                <a:buNone/>
              </a:pPr>
              <a:r>
                <a:rPr b="0" i="0" lang="en-US" sz="3900" u="none" cap="none" strike="noStrike">
                  <a:solidFill>
                    <a:schemeClr val="lt1"/>
                  </a:solidFill>
                  <a:latin typeface="Calibri"/>
                  <a:ea typeface="Calibri"/>
                  <a:cs typeface="Calibri"/>
                  <a:sym typeface="Calibri"/>
                </a:rPr>
                <a:t>Tuy nhiên, AI không hoàn hảo, có thể nhận sai, nên chúng ta phải kiểm chứng thông tin trước khi tin tưởng.</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sp>
        <p:nvSpPr>
          <p:cNvPr id="268" name="Google Shape;268;p15"/>
          <p:cNvSpPr/>
          <p:nvPr/>
        </p:nvSpPr>
        <p:spPr>
          <a:xfrm>
            <a:off x="1143001" y="7611036"/>
            <a:ext cx="15163799" cy="89704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alibri"/>
                <a:ea typeface="Calibri"/>
                <a:cs typeface="Calibri"/>
                <a:sym typeface="Calibri"/>
              </a:rPr>
              <a:t>BẢNG TIÊU CHÍ ĐÁNH GIÁ HOẠT ĐỘNG NHÓM</a:t>
            </a:r>
            <a:endParaRPr b="0" i="0" sz="5400" u="none" cap="none" strike="noStrike">
              <a:solidFill>
                <a:schemeClr val="dk1"/>
              </a:solidFill>
              <a:latin typeface="Calibri"/>
              <a:ea typeface="Calibri"/>
              <a:cs typeface="Calibri"/>
              <a:sym typeface="Calibri"/>
            </a:endParaRPr>
          </a:p>
        </p:txBody>
      </p:sp>
      <p:sp>
        <p:nvSpPr>
          <p:cNvPr id="269" name="Google Shape;269;p15"/>
          <p:cNvSpPr/>
          <p:nvPr/>
        </p:nvSpPr>
        <p:spPr>
          <a:xfrm>
            <a:off x="1" y="1"/>
            <a:ext cx="18288000" cy="6585380"/>
          </a:xfrm>
          <a:prstGeom prst="rect">
            <a:avLst/>
          </a:prstGeom>
          <a:solidFill>
            <a:srgbClr val="F2F2F2">
              <a:alpha val="6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70" name="Google Shape;270;p15"/>
          <p:cNvCxnSpPr/>
          <p:nvPr/>
        </p:nvCxnSpPr>
        <p:spPr>
          <a:xfrm>
            <a:off x="1297711" y="7217275"/>
            <a:ext cx="1105409" cy="0"/>
          </a:xfrm>
          <a:prstGeom prst="straightConnector1">
            <a:avLst/>
          </a:prstGeom>
          <a:noFill/>
          <a:ln cap="flat" cmpd="sng" w="57150">
            <a:solidFill>
              <a:schemeClr val="accent4"/>
            </a:solidFill>
            <a:prstDash val="solid"/>
            <a:round/>
            <a:headEnd len="sm" w="sm" type="none"/>
            <a:tailEnd len="sm" w="sm" type="none"/>
          </a:ln>
        </p:spPr>
      </p:cxnSp>
      <p:sp>
        <p:nvSpPr>
          <p:cNvPr id="271" name="Google Shape;271;p15"/>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3">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72" name="Google Shape;272;p15"/>
          <p:cNvGraphicFramePr/>
          <p:nvPr/>
        </p:nvGraphicFramePr>
        <p:xfrm>
          <a:off x="2065223" y="745440"/>
          <a:ext cx="3000000" cy="3000000"/>
        </p:xfrm>
        <a:graphic>
          <a:graphicData uri="http://schemas.openxmlformats.org/drawingml/2006/table">
            <a:tbl>
              <a:tblPr bandRow="1" firstCol="1" firstRow="1">
                <a:solidFill>
                  <a:srgbClr val="F2F2F2"/>
                </a:solidFill>
                <a:tableStyleId>{FA57D397-950B-48B9-8D01-CE271BCBC326}</a:tableStyleId>
              </a:tblPr>
              <a:tblGrid>
                <a:gridCol w="3375075"/>
                <a:gridCol w="3567525"/>
                <a:gridCol w="3463275"/>
                <a:gridCol w="3792075"/>
              </a:tblGrid>
              <a:tr h="1758025">
                <a:tc>
                  <a:txBody>
                    <a:bodyPr/>
                    <a:lstStyle/>
                    <a:p>
                      <a:pPr indent="0" lvl="0" marL="0" marR="0" rtl="0" algn="l">
                        <a:lnSpc>
                          <a:spcPct val="107000"/>
                        </a:lnSpc>
                        <a:spcBef>
                          <a:spcPts val="0"/>
                        </a:spcBef>
                        <a:spcAft>
                          <a:spcPts val="0"/>
                        </a:spcAft>
                        <a:buClr>
                          <a:schemeClr val="dk1"/>
                        </a:buClr>
                        <a:buSzPts val="4000"/>
                        <a:buFont typeface="Calibri"/>
                        <a:buNone/>
                      </a:pPr>
                      <a:r>
                        <a:rPr b="1" lang="en-US" sz="4000" u="none" cap="none" strike="noStrike">
                          <a:solidFill>
                            <a:schemeClr val="dk1"/>
                          </a:solidFill>
                        </a:rPr>
                        <a:t>Tiêu chí</a:t>
                      </a:r>
                      <a:endParaRPr b="1" sz="4000" u="none" cap="none" strike="noStrike">
                        <a:solidFill>
                          <a:schemeClr val="dk1"/>
                        </a:solidFill>
                        <a:latin typeface="Times New Roman"/>
                        <a:ea typeface="Times New Roman"/>
                        <a:cs typeface="Times New Roman"/>
                        <a:sym typeface="Times New Roman"/>
                      </a:endParaRPr>
                    </a:p>
                  </a:txBody>
                  <a:tcPr marT="46200" marB="346450" marR="173225" marL="1616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4000"/>
                        <a:buFont typeface="Calibri"/>
                        <a:buNone/>
                      </a:pPr>
                      <a:r>
                        <a:rPr b="1" lang="en-US" sz="4000" u="none" cap="none" strike="noStrike">
                          <a:solidFill>
                            <a:schemeClr val="dk1"/>
                          </a:solidFill>
                        </a:rPr>
                        <a:t>Mức đạt (1 điểm)</a:t>
                      </a:r>
                      <a:endParaRPr b="1" sz="4000" u="none" cap="none" strike="noStrike">
                        <a:solidFill>
                          <a:schemeClr val="dk1"/>
                        </a:solidFill>
                        <a:latin typeface="Times New Roman"/>
                        <a:ea typeface="Times New Roman"/>
                        <a:cs typeface="Times New Roman"/>
                        <a:sym typeface="Times New Roman"/>
                      </a:endParaRPr>
                    </a:p>
                  </a:txBody>
                  <a:tcPr marT="46200" marB="346450" marR="173225" marL="1616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4000"/>
                        <a:buFont typeface="Calibri"/>
                        <a:buNone/>
                      </a:pPr>
                      <a:r>
                        <a:rPr b="1" lang="en-US" sz="4000" u="none" cap="none" strike="noStrike">
                          <a:solidFill>
                            <a:schemeClr val="dk1"/>
                          </a:solidFill>
                        </a:rPr>
                        <a:t>Mức khá (2 điểm)</a:t>
                      </a:r>
                      <a:endParaRPr b="1" sz="4000" u="none" cap="none" strike="noStrike">
                        <a:solidFill>
                          <a:schemeClr val="dk1"/>
                        </a:solidFill>
                        <a:latin typeface="Times New Roman"/>
                        <a:ea typeface="Times New Roman"/>
                        <a:cs typeface="Times New Roman"/>
                        <a:sym typeface="Times New Roman"/>
                      </a:endParaRPr>
                    </a:p>
                  </a:txBody>
                  <a:tcPr marT="46200" marB="346450" marR="173225" marL="1616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4000"/>
                        <a:buFont typeface="Calibri"/>
                        <a:buNone/>
                      </a:pPr>
                      <a:r>
                        <a:rPr b="1" lang="en-US" sz="4000" u="none" cap="none" strike="noStrike">
                          <a:solidFill>
                            <a:schemeClr val="dk1"/>
                          </a:solidFill>
                        </a:rPr>
                        <a:t>Mức tốt (3 điểm)</a:t>
                      </a:r>
                      <a:endParaRPr b="1" sz="4000" u="none" cap="none" strike="noStrike">
                        <a:solidFill>
                          <a:schemeClr val="dk1"/>
                        </a:solidFill>
                        <a:latin typeface="Times New Roman"/>
                        <a:ea typeface="Times New Roman"/>
                        <a:cs typeface="Times New Roman"/>
                        <a:sym typeface="Times New Roman"/>
                      </a:endParaRPr>
                    </a:p>
                  </a:txBody>
                  <a:tcPr marT="46200" marB="346450" marR="173225" marL="1616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1439825">
                <a:tc>
                  <a:txBody>
                    <a:bodyPr/>
                    <a:lstStyle/>
                    <a:p>
                      <a:pPr indent="0" lvl="0" marL="0" marR="0" rtl="0" algn="l">
                        <a:lnSpc>
                          <a:spcPct val="107000"/>
                        </a:lnSpc>
                        <a:spcBef>
                          <a:spcPts val="0"/>
                        </a:spcBef>
                        <a:spcAft>
                          <a:spcPts val="0"/>
                        </a:spcAft>
                        <a:buClr>
                          <a:schemeClr val="dk1"/>
                        </a:buClr>
                        <a:buSzPts val="3000"/>
                        <a:buFont typeface="Calibri"/>
                        <a:buNone/>
                      </a:pPr>
                      <a:r>
                        <a:rPr b="1" lang="en-US" sz="3000" u="none" cap="none" strike="noStrike">
                          <a:solidFill>
                            <a:schemeClr val="dk1"/>
                          </a:solidFill>
                        </a:rPr>
                        <a:t>Độ chính xác</a:t>
                      </a:r>
                      <a:endParaRPr b="1"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Nhận xét được 1 ảnh</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2 ảnh</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3-4 ảnh</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945500">
                <a:tc>
                  <a:txBody>
                    <a:bodyPr/>
                    <a:lstStyle/>
                    <a:p>
                      <a:pPr indent="0" lvl="0" marL="0" marR="0" rtl="0" algn="l">
                        <a:lnSpc>
                          <a:spcPct val="107000"/>
                        </a:lnSpc>
                        <a:spcBef>
                          <a:spcPts val="0"/>
                        </a:spcBef>
                        <a:spcAft>
                          <a:spcPts val="0"/>
                        </a:spcAft>
                        <a:buClr>
                          <a:schemeClr val="dk1"/>
                        </a:buClr>
                        <a:buSzPts val="3000"/>
                        <a:buFont typeface="Calibri"/>
                        <a:buNone/>
                      </a:pPr>
                      <a:r>
                        <a:rPr b="1" lang="en-US" sz="3000" u="none" cap="none" strike="noStrike">
                          <a:solidFill>
                            <a:schemeClr val="dk1"/>
                          </a:solidFill>
                        </a:rPr>
                        <a:t>Giải thích lý do</a:t>
                      </a:r>
                      <a:endParaRPr b="1"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Nêu được 1 lý do</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2 lý do</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3 lý do rõ ràng</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945500">
                <a:tc>
                  <a:txBody>
                    <a:bodyPr/>
                    <a:lstStyle/>
                    <a:p>
                      <a:pPr indent="0" lvl="0" marL="0" marR="0" rtl="0" algn="l">
                        <a:lnSpc>
                          <a:spcPct val="107000"/>
                        </a:lnSpc>
                        <a:spcBef>
                          <a:spcPts val="0"/>
                        </a:spcBef>
                        <a:spcAft>
                          <a:spcPts val="0"/>
                        </a:spcAft>
                        <a:buClr>
                          <a:schemeClr val="dk1"/>
                        </a:buClr>
                        <a:buSzPts val="3000"/>
                        <a:buFont typeface="Calibri"/>
                        <a:buNone/>
                      </a:pPr>
                      <a:r>
                        <a:rPr b="1" lang="en-US" sz="3000" u="none" cap="none" strike="noStrike">
                          <a:solidFill>
                            <a:schemeClr val="dk1"/>
                          </a:solidFill>
                        </a:rPr>
                        <a:t>Hợp tác nhóm</a:t>
                      </a:r>
                      <a:endParaRPr b="1"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Ít tham gia</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Tham gia đầy đủ</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lnSpc>
                          <a:spcPct val="107000"/>
                        </a:lnSpc>
                        <a:spcBef>
                          <a:spcPts val="0"/>
                        </a:spcBef>
                        <a:spcAft>
                          <a:spcPts val="0"/>
                        </a:spcAft>
                        <a:buClr>
                          <a:schemeClr val="dk1"/>
                        </a:buClr>
                        <a:buSzPts val="3000"/>
                        <a:buFont typeface="Calibri"/>
                        <a:buNone/>
                      </a:pPr>
                      <a:r>
                        <a:rPr lang="en-US" sz="3000" u="none" cap="none" strike="noStrike">
                          <a:solidFill>
                            <a:schemeClr val="dk1"/>
                          </a:solidFill>
                        </a:rPr>
                        <a:t>Tích cực, sáng tạo</a:t>
                      </a:r>
                      <a:endParaRPr sz="3000" u="none" cap="none" strike="noStrike">
                        <a:solidFill>
                          <a:schemeClr val="dk1"/>
                        </a:solidFill>
                        <a:latin typeface="Times New Roman"/>
                        <a:ea typeface="Times New Roman"/>
                        <a:cs typeface="Times New Roman"/>
                        <a:sym typeface="Times New Roman"/>
                      </a:endParaRPr>
                    </a:p>
                  </a:txBody>
                  <a:tcPr marT="46200" marB="346450" marR="173225" marL="1616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6"/>
          <p:cNvSpPr/>
          <p:nvPr/>
        </p:nvSpPr>
        <p:spPr>
          <a:xfrm>
            <a:off x="0" y="6672745"/>
            <a:ext cx="8445946" cy="3663429"/>
          </a:xfrm>
          <a:custGeom>
            <a:rect b="b" l="l" r="r" t="t"/>
            <a:pathLst>
              <a:path extrusionOk="0" h="3663429" w="8445946">
                <a:moveTo>
                  <a:pt x="0" y="0"/>
                </a:moveTo>
                <a:lnTo>
                  <a:pt x="8445946" y="0"/>
                </a:lnTo>
                <a:lnTo>
                  <a:pt x="8445946" y="3663429"/>
                </a:lnTo>
                <a:lnTo>
                  <a:pt x="0" y="366342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16"/>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4">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16"/>
          <p:cNvSpPr/>
          <p:nvPr/>
        </p:nvSpPr>
        <p:spPr>
          <a:xfrm>
            <a:off x="1139820" y="2155135"/>
            <a:ext cx="5688189" cy="5579165"/>
          </a:xfrm>
          <a:custGeom>
            <a:rect b="b" l="l" r="r" t="t"/>
            <a:pathLst>
              <a:path extrusionOk="0" h="5579165" w="5688189">
                <a:moveTo>
                  <a:pt x="0" y="0"/>
                </a:moveTo>
                <a:lnTo>
                  <a:pt x="5688189" y="0"/>
                </a:lnTo>
                <a:lnTo>
                  <a:pt x="5688189" y="5579165"/>
                </a:lnTo>
                <a:lnTo>
                  <a:pt x="0" y="5579165"/>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6"/>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16"/>
          <p:cNvSpPr/>
          <p:nvPr/>
        </p:nvSpPr>
        <p:spPr>
          <a:xfrm rot="10800000">
            <a:off x="9843191" y="0"/>
            <a:ext cx="8444809" cy="3662936"/>
          </a:xfrm>
          <a:custGeom>
            <a:rect b="b" l="l" r="r" t="t"/>
            <a:pathLst>
              <a:path extrusionOk="0" h="3662936" w="8444809">
                <a:moveTo>
                  <a:pt x="0" y="0"/>
                </a:moveTo>
                <a:lnTo>
                  <a:pt x="8444809" y="0"/>
                </a:lnTo>
                <a:lnTo>
                  <a:pt x="8444809" y="3662936"/>
                </a:lnTo>
                <a:lnTo>
                  <a:pt x="0" y="36629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16"/>
          <p:cNvSpPr txBox="1"/>
          <p:nvPr/>
        </p:nvSpPr>
        <p:spPr>
          <a:xfrm>
            <a:off x="7091002" y="3576363"/>
            <a:ext cx="10526496" cy="25811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5005"/>
              <a:buFont typeface="Arial"/>
              <a:buNone/>
            </a:pPr>
            <a:r>
              <a:rPr b="1" i="0" lang="en-US" sz="15005" u="none" cap="none" strike="noStrike">
                <a:solidFill>
                  <a:srgbClr val="000000"/>
                </a:solidFill>
                <a:latin typeface="Noto Sans"/>
                <a:ea typeface="Noto Sans"/>
                <a:cs typeface="Noto Sans"/>
                <a:sym typeface="Noto Sans"/>
              </a:rPr>
              <a:t>ÁP DỤNG</a:t>
            </a:r>
            <a:endParaRPr b="0" i="0" sz="1400" u="none" cap="none" strike="noStrike">
              <a:solidFill>
                <a:srgbClr val="000000"/>
              </a:solidFill>
              <a:latin typeface="Arial"/>
              <a:ea typeface="Arial"/>
              <a:cs typeface="Arial"/>
              <a:sym typeface="Arial"/>
            </a:endParaRPr>
          </a:p>
        </p:txBody>
      </p:sp>
      <p:sp>
        <p:nvSpPr>
          <p:cNvPr id="283" name="Google Shape;283;p16"/>
          <p:cNvSpPr txBox="1"/>
          <p:nvPr/>
        </p:nvSpPr>
        <p:spPr>
          <a:xfrm>
            <a:off x="3714285" y="3934110"/>
            <a:ext cx="726281" cy="170815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999"/>
              <a:buFont typeface="Arial"/>
              <a:buNone/>
            </a:pPr>
            <a:r>
              <a:rPr b="1" i="0" lang="en-US" sz="9999" u="none" cap="none" strike="noStrike">
                <a:solidFill>
                  <a:srgbClr val="000000"/>
                </a:solidFill>
                <a:latin typeface="Noto Sans"/>
                <a:ea typeface="Noto Sans"/>
                <a:cs typeface="Noto Sans"/>
                <a:sym typeface="Noto Sans"/>
              </a:rPr>
              <a:t>4</a:t>
            </a:r>
            <a:endParaRPr b="0" i="0" sz="1400" u="none" cap="none" strike="noStrike">
              <a:solidFill>
                <a:srgbClr val="000000"/>
              </a:solidFill>
              <a:latin typeface="Arial"/>
              <a:ea typeface="Arial"/>
              <a:cs typeface="Arial"/>
              <a:sym typeface="Arial"/>
            </a:endParaRPr>
          </a:p>
        </p:txBody>
      </p:sp>
      <p:sp>
        <p:nvSpPr>
          <p:cNvPr id="284" name="Google Shape;284;p16"/>
          <p:cNvSpPr/>
          <p:nvPr/>
        </p:nvSpPr>
        <p:spPr>
          <a:xfrm flipH="1">
            <a:off x="0" y="8732609"/>
            <a:ext cx="1442085" cy="1524000"/>
          </a:xfrm>
          <a:custGeom>
            <a:rect b="b" l="l" r="r" t="t"/>
            <a:pathLst>
              <a:path extrusionOk="0" h="1524000" w="1442085">
                <a:moveTo>
                  <a:pt x="1442085" y="0"/>
                </a:moveTo>
                <a:lnTo>
                  <a:pt x="0" y="0"/>
                </a:lnTo>
                <a:lnTo>
                  <a:pt x="0" y="1524000"/>
                </a:lnTo>
                <a:lnTo>
                  <a:pt x="1442085" y="1524000"/>
                </a:lnTo>
                <a:lnTo>
                  <a:pt x="1442085"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6"/>
          <p:cNvSpPr/>
          <p:nvPr/>
        </p:nvSpPr>
        <p:spPr>
          <a:xfrm>
            <a:off x="16385986" y="755603"/>
            <a:ext cx="1231512" cy="1205342"/>
          </a:xfrm>
          <a:custGeom>
            <a:rect b="b" l="l" r="r" t="t"/>
            <a:pathLst>
              <a:path extrusionOk="0" h="1205342" w="1231512">
                <a:moveTo>
                  <a:pt x="0" y="0"/>
                </a:moveTo>
                <a:lnTo>
                  <a:pt x="1231512" y="0"/>
                </a:lnTo>
                <a:lnTo>
                  <a:pt x="1231512" y="1205342"/>
                </a:lnTo>
                <a:lnTo>
                  <a:pt x="0" y="120534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16"/>
          <p:cNvSpPr/>
          <p:nvPr/>
        </p:nvSpPr>
        <p:spPr>
          <a:xfrm>
            <a:off x="14059007" y="6672745"/>
            <a:ext cx="4009918" cy="3583864"/>
          </a:xfrm>
          <a:custGeom>
            <a:rect b="b" l="l" r="r" t="t"/>
            <a:pathLst>
              <a:path extrusionOk="0" h="3583864" w="4009918">
                <a:moveTo>
                  <a:pt x="0" y="0"/>
                </a:moveTo>
                <a:lnTo>
                  <a:pt x="4009918" y="0"/>
                </a:lnTo>
                <a:lnTo>
                  <a:pt x="4009918" y="3583864"/>
                </a:lnTo>
                <a:lnTo>
                  <a:pt x="0" y="358386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p17"/>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blue worksheet with black text&#10;&#10;AI-generated content may be incorrect." id="293" name="Google Shape;293;p17"/>
          <p:cNvPicPr preferRelativeResize="0"/>
          <p:nvPr/>
        </p:nvPicPr>
        <p:blipFill rotWithShape="1">
          <a:blip r:embed="rId3">
            <a:alphaModFix/>
          </a:blip>
          <a:srcRect b="1" l="0" r="20337" t="0"/>
          <a:stretch/>
        </p:blipFill>
        <p:spPr>
          <a:xfrm>
            <a:off x="1" y="10"/>
            <a:ext cx="14504463" cy="10286990"/>
          </a:xfrm>
          <a:prstGeom prst="rect">
            <a:avLst/>
          </a:prstGeom>
          <a:noFill/>
          <a:ln>
            <a:noFill/>
          </a:ln>
        </p:spPr>
      </p:pic>
      <p:sp>
        <p:nvSpPr>
          <p:cNvPr id="294" name="Google Shape;294;p17"/>
          <p:cNvSpPr/>
          <p:nvPr/>
        </p:nvSpPr>
        <p:spPr>
          <a:xfrm flipH="1">
            <a:off x="7687528" y="0"/>
            <a:ext cx="10600467" cy="10287000"/>
          </a:xfrm>
          <a:prstGeom prst="rect">
            <a:avLst/>
          </a:prstGeom>
          <a:gradFill>
            <a:gsLst>
              <a:gs pos="0">
                <a:srgbClr val="FFFFFF">
                  <a:alpha val="0"/>
                </a:srgbClr>
              </a:gs>
              <a:gs pos="19000">
                <a:srgbClr val="FFFFFF">
                  <a:alpha val="37254"/>
                </a:srgbClr>
              </a:gs>
              <a:gs pos="35000">
                <a:srgbClr val="FFFFFF">
                  <a:alpha val="76470"/>
                </a:srgbClr>
              </a:gs>
              <a:gs pos="4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p17"/>
          <p:cNvSpPr txBox="1"/>
          <p:nvPr/>
        </p:nvSpPr>
        <p:spPr>
          <a:xfrm>
            <a:off x="11903103" y="1115170"/>
            <a:ext cx="5168647" cy="5538042"/>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7800"/>
              <a:buFont typeface="Arial"/>
              <a:buNone/>
            </a:pPr>
            <a:r>
              <a:rPr b="1" i="0" lang="en-US" sz="7800" u="none" cap="none" strike="noStrike">
                <a:solidFill>
                  <a:schemeClr val="dk1"/>
                </a:solidFill>
                <a:latin typeface="Calibri"/>
                <a:ea typeface="Calibri"/>
                <a:cs typeface="Calibri"/>
                <a:sym typeface="Calibri"/>
              </a:rPr>
              <a:t>Hoàn thành PHT </a:t>
            </a:r>
            <a:endParaRPr b="0" i="0" sz="1400" u="none" cap="none" strike="noStrike">
              <a:solidFill>
                <a:srgbClr val="000000"/>
              </a:solidFill>
              <a:latin typeface="Arial"/>
              <a:ea typeface="Arial"/>
              <a:cs typeface="Arial"/>
              <a:sym typeface="Arial"/>
            </a:endParaRPr>
          </a:p>
        </p:txBody>
      </p:sp>
      <p:sp>
        <p:nvSpPr>
          <p:cNvPr id="296" name="Google Shape;296;p17"/>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4">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18"/>
          <p:cNvSpPr txBox="1"/>
          <p:nvPr>
            <p:ph type="title"/>
          </p:nvPr>
        </p:nvSpPr>
        <p:spPr>
          <a:xfrm>
            <a:off x="1143001" y="7611036"/>
            <a:ext cx="15163799" cy="897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solidFill>
                  <a:schemeClr val="dk1"/>
                </a:solidFill>
                <a:latin typeface="Calibri"/>
                <a:ea typeface="Calibri"/>
                <a:cs typeface="Calibri"/>
                <a:sym typeface="Calibri"/>
              </a:rPr>
              <a:t>GỢI Ý PHT </a:t>
            </a:r>
            <a:endParaRPr/>
          </a:p>
        </p:txBody>
      </p:sp>
      <p:sp>
        <p:nvSpPr>
          <p:cNvPr id="302" name="Google Shape;302;p18"/>
          <p:cNvSpPr/>
          <p:nvPr/>
        </p:nvSpPr>
        <p:spPr>
          <a:xfrm>
            <a:off x="1" y="1"/>
            <a:ext cx="18288000" cy="6585380"/>
          </a:xfrm>
          <a:prstGeom prst="rect">
            <a:avLst/>
          </a:prstGeom>
          <a:solidFill>
            <a:srgbClr val="F2F2F2">
              <a:alpha val="6431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03" name="Google Shape;303;p18"/>
          <p:cNvCxnSpPr/>
          <p:nvPr/>
        </p:nvCxnSpPr>
        <p:spPr>
          <a:xfrm>
            <a:off x="1297711" y="7217275"/>
            <a:ext cx="1105409" cy="0"/>
          </a:xfrm>
          <a:prstGeom prst="straightConnector1">
            <a:avLst/>
          </a:prstGeom>
          <a:noFill/>
          <a:ln cap="flat" cmpd="sng" w="57150">
            <a:solidFill>
              <a:schemeClr val="accent4"/>
            </a:solidFill>
            <a:prstDash val="solid"/>
            <a:round/>
            <a:headEnd len="sm" w="sm" type="none"/>
            <a:tailEnd len="sm" w="sm" type="none"/>
          </a:ln>
        </p:spPr>
      </p:cxnSp>
      <p:graphicFrame>
        <p:nvGraphicFramePr>
          <p:cNvPr id="304" name="Google Shape;304;p18"/>
          <p:cNvGraphicFramePr/>
          <p:nvPr/>
        </p:nvGraphicFramePr>
        <p:xfrm>
          <a:off x="2493689" y="745440"/>
          <a:ext cx="3000000" cy="3000000"/>
        </p:xfrm>
        <a:graphic>
          <a:graphicData uri="http://schemas.openxmlformats.org/drawingml/2006/table">
            <a:tbl>
              <a:tblPr bandRow="1" firstCol="1" firstRow="1">
                <a:solidFill>
                  <a:srgbClr val="3F3F3F"/>
                </a:solidFill>
                <a:tableStyleId>{FA57D397-950B-48B9-8D01-CE271BCBC326}</a:tableStyleId>
              </a:tblPr>
              <a:tblGrid>
                <a:gridCol w="1519775"/>
                <a:gridCol w="2345225"/>
                <a:gridCol w="2345225"/>
                <a:gridCol w="2345225"/>
                <a:gridCol w="2345225"/>
                <a:gridCol w="2440350"/>
              </a:tblGrid>
              <a:tr h="1190100">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STT</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Hình ảnh</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AI nhận diện</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Thực tế</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Đúng/Sai</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700"/>
                        <a:buFont typeface="Calibri"/>
                        <a:buNone/>
                      </a:pPr>
                      <a:r>
                        <a:rPr b="1" lang="en-US" sz="2700" u="none" cap="none" strike="noStrike">
                          <a:solidFill>
                            <a:schemeClr val="lt1"/>
                          </a:solidFill>
                        </a:rPr>
                        <a:t>Cách kiểm chứng</a:t>
                      </a:r>
                      <a:endParaRPr b="1" sz="2700" u="none" cap="none" strike="noStrike">
                        <a:solidFill>
                          <a:schemeClr val="lt1"/>
                        </a:solidFill>
                        <a:latin typeface="Times New Roman"/>
                        <a:ea typeface="Times New Roman"/>
                        <a:cs typeface="Times New Roman"/>
                        <a:sym typeface="Times New Roman"/>
                      </a:endParaRPr>
                    </a:p>
                  </a:txBody>
                  <a:tcPr marT="31275" marB="234525" marR="117250" marL="109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974675">
                <a:tc>
                  <a:txBody>
                    <a:bodyPr/>
                    <a:lstStyle/>
                    <a:p>
                      <a:pPr indent="0" lvl="0" marL="0" marR="0" rtl="0" algn="l">
                        <a:lnSpc>
                          <a:spcPct val="107000"/>
                        </a:lnSpc>
                        <a:spcBef>
                          <a:spcPts val="0"/>
                        </a:spcBef>
                        <a:spcAft>
                          <a:spcPts val="0"/>
                        </a:spcAft>
                        <a:buClr>
                          <a:schemeClr val="lt1"/>
                        </a:buClr>
                        <a:buSzPts val="2100"/>
                        <a:buFont typeface="Calibri"/>
                        <a:buNone/>
                      </a:pPr>
                      <a:r>
                        <a:rPr b="1" lang="en-US" sz="2100" u="none" cap="none" strike="noStrike">
                          <a:solidFill>
                            <a:schemeClr val="lt1"/>
                          </a:solidFill>
                        </a:rPr>
                        <a:t>1</a:t>
                      </a:r>
                      <a:endParaRPr b="1"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Quả chuối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Dưa chuột</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Chuối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Sai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Quan sát hình cong và màu vàng</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974675">
                <a:tc>
                  <a:txBody>
                    <a:bodyPr/>
                    <a:lstStyle/>
                    <a:p>
                      <a:pPr indent="0" lvl="0" marL="0" marR="0" rtl="0" algn="l">
                        <a:lnSpc>
                          <a:spcPct val="107000"/>
                        </a:lnSpc>
                        <a:spcBef>
                          <a:spcPts val="0"/>
                        </a:spcBef>
                        <a:spcAft>
                          <a:spcPts val="0"/>
                        </a:spcAft>
                        <a:buClr>
                          <a:schemeClr val="lt1"/>
                        </a:buClr>
                        <a:buSzPts val="2100"/>
                        <a:buFont typeface="Calibri"/>
                        <a:buNone/>
                      </a:pPr>
                      <a:r>
                        <a:rPr b="1" lang="en-US" sz="2100" u="none" cap="none" strike="noStrike">
                          <a:solidFill>
                            <a:schemeClr val="lt1"/>
                          </a:solidFill>
                        </a:rPr>
                        <a:t>2</a:t>
                      </a:r>
                      <a:endParaRPr b="1"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Con voi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Con hà mã</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Voi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Sai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So sánh đặc điểm: vòi dài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974675">
                <a:tc>
                  <a:txBody>
                    <a:bodyPr/>
                    <a:lstStyle/>
                    <a:p>
                      <a:pPr indent="0" lvl="0" marL="0" marR="0" rtl="0" algn="l">
                        <a:lnSpc>
                          <a:spcPct val="107000"/>
                        </a:lnSpc>
                        <a:spcBef>
                          <a:spcPts val="0"/>
                        </a:spcBef>
                        <a:spcAft>
                          <a:spcPts val="0"/>
                        </a:spcAft>
                        <a:buClr>
                          <a:schemeClr val="lt1"/>
                        </a:buClr>
                        <a:buSzPts val="2100"/>
                        <a:buFont typeface="Calibri"/>
                        <a:buNone/>
                      </a:pPr>
                      <a:r>
                        <a:rPr b="1" lang="en-US" sz="2100" u="none" cap="none" strike="noStrike">
                          <a:solidFill>
                            <a:schemeClr val="lt1"/>
                          </a:solidFill>
                        </a:rPr>
                        <a:t>3</a:t>
                      </a:r>
                      <a:endParaRPr b="1"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Xe buýt</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Xe tải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Xe buýt</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Sai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Kiểm tra số ghế, cửa rộng</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974675">
                <a:tc>
                  <a:txBody>
                    <a:bodyPr/>
                    <a:lstStyle/>
                    <a:p>
                      <a:pPr indent="0" lvl="0" marL="0" marR="0" rtl="0" algn="l">
                        <a:lnSpc>
                          <a:spcPct val="107000"/>
                        </a:lnSpc>
                        <a:spcBef>
                          <a:spcPts val="0"/>
                        </a:spcBef>
                        <a:spcAft>
                          <a:spcPts val="0"/>
                        </a:spcAft>
                        <a:buClr>
                          <a:schemeClr val="lt1"/>
                        </a:buClr>
                        <a:buSzPts val="2100"/>
                        <a:buFont typeface="Calibri"/>
                        <a:buNone/>
                      </a:pPr>
                      <a:r>
                        <a:rPr b="1" lang="en-US" sz="2100" u="none" cap="none" strike="noStrike">
                          <a:solidFill>
                            <a:schemeClr val="lt1"/>
                          </a:solidFill>
                        </a:rPr>
                        <a:t>4</a:t>
                      </a:r>
                      <a:endParaRPr b="1"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Bánh pizza</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Bánh mì tròn</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Pizza</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Sai</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c>
                  <a:txBody>
                    <a:bodyPr/>
                    <a:lstStyle/>
                    <a:p>
                      <a:pPr indent="0" lvl="0" marL="0" marR="0" rtl="0" algn="l">
                        <a:lnSpc>
                          <a:spcPct val="107000"/>
                        </a:lnSpc>
                        <a:spcBef>
                          <a:spcPts val="0"/>
                        </a:spcBef>
                        <a:spcAft>
                          <a:spcPts val="0"/>
                        </a:spcAft>
                        <a:buClr>
                          <a:schemeClr val="lt1"/>
                        </a:buClr>
                        <a:buSzPts val="2100"/>
                        <a:buFont typeface="Calibri"/>
                        <a:buNone/>
                      </a:pPr>
                      <a:r>
                        <a:rPr lang="en-US" sz="2100" u="none" cap="none" strike="noStrike">
                          <a:solidFill>
                            <a:schemeClr val="lt1"/>
                          </a:solidFill>
                        </a:rPr>
                        <a:t>Quan sát có phô mai, nhiều topping</a:t>
                      </a:r>
                      <a:endParaRPr sz="2100" u="none" cap="none" strike="noStrike">
                        <a:solidFill>
                          <a:schemeClr val="lt1"/>
                        </a:solidFill>
                        <a:latin typeface="Times New Roman"/>
                        <a:ea typeface="Times New Roman"/>
                        <a:cs typeface="Times New Roman"/>
                        <a:sym typeface="Times New Roman"/>
                      </a:endParaRPr>
                    </a:p>
                  </a:txBody>
                  <a:tcPr marT="31275" marB="234525" marR="117250" marL="109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bl>
          </a:graphicData>
        </a:graphic>
      </p:graphicFrame>
      <p:sp>
        <p:nvSpPr>
          <p:cNvPr id="305" name="Google Shape;305;p18"/>
          <p:cNvSpPr/>
          <p:nvPr/>
        </p:nvSpPr>
        <p:spPr>
          <a:xfrm>
            <a:off x="15351523" y="7632807"/>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3">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19"/>
          <p:cNvSpPr/>
          <p:nvPr/>
        </p:nvSpPr>
        <p:spPr>
          <a:xfrm>
            <a:off x="2286"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Mua pizza đông lạnh ở đâu - Thực phẩm siêu thị" id="311" name="Google Shape;311;p19"/>
          <p:cNvPicPr preferRelativeResize="0"/>
          <p:nvPr/>
        </p:nvPicPr>
        <p:blipFill rotWithShape="1">
          <a:blip r:embed="rId3">
            <a:alphaModFix/>
          </a:blip>
          <a:srcRect b="7541" l="0" r="-2" t="14774"/>
          <a:stretch/>
        </p:blipFill>
        <p:spPr>
          <a:xfrm>
            <a:off x="298108" y="257575"/>
            <a:ext cx="8706158" cy="4751139"/>
          </a:xfrm>
          <a:prstGeom prst="rect">
            <a:avLst/>
          </a:prstGeom>
          <a:noFill/>
          <a:ln>
            <a:noFill/>
          </a:ln>
        </p:spPr>
      </p:pic>
      <p:pic>
        <p:nvPicPr>
          <p:cNvPr descr="Hình tượng con voi trong phong thuỷ có ý nghĩa như thế nào ? - Thế Giới Đồ  Gỗ" id="312" name="Google Shape;312;p19"/>
          <p:cNvPicPr preferRelativeResize="0"/>
          <p:nvPr/>
        </p:nvPicPr>
        <p:blipFill rotWithShape="1">
          <a:blip r:embed="rId4">
            <a:alphaModFix/>
          </a:blip>
          <a:srcRect b="18211" l="0" r="0" t="5912"/>
          <a:stretch/>
        </p:blipFill>
        <p:spPr>
          <a:xfrm>
            <a:off x="9293059" y="257575"/>
            <a:ext cx="8696825" cy="4751139"/>
          </a:xfrm>
          <a:prstGeom prst="rect">
            <a:avLst/>
          </a:prstGeom>
          <a:noFill/>
          <a:ln>
            <a:noFill/>
          </a:ln>
        </p:spPr>
      </p:pic>
      <p:pic>
        <p:nvPicPr>
          <p:cNvPr descr="A banana with skin on it&#10;&#10;AI-generated content may be incorrect." id="313" name="Google Shape;313;p19"/>
          <p:cNvPicPr preferRelativeResize="0"/>
          <p:nvPr/>
        </p:nvPicPr>
        <p:blipFill rotWithShape="1">
          <a:blip r:embed="rId5">
            <a:alphaModFix/>
          </a:blip>
          <a:srcRect b="-2" l="0" r="-2" t="14164"/>
          <a:stretch/>
        </p:blipFill>
        <p:spPr>
          <a:xfrm>
            <a:off x="298108" y="5266287"/>
            <a:ext cx="8706158" cy="4184922"/>
          </a:xfrm>
          <a:prstGeom prst="rect">
            <a:avLst/>
          </a:prstGeom>
          <a:noFill/>
          <a:ln>
            <a:noFill/>
          </a:ln>
        </p:spPr>
      </p:pic>
      <p:pic>
        <p:nvPicPr>
          <p:cNvPr descr="Chưa thể trải nghiệm tiện ích &quot;chạm&quot; để thanh toán trên toàn bộ xe buýt" id="314" name="Google Shape;314;p19"/>
          <p:cNvPicPr preferRelativeResize="0"/>
          <p:nvPr/>
        </p:nvPicPr>
        <p:blipFill rotWithShape="1">
          <a:blip r:embed="rId6">
            <a:alphaModFix/>
          </a:blip>
          <a:srcRect b="2991" l="0" r="0" t="11461"/>
          <a:stretch/>
        </p:blipFill>
        <p:spPr>
          <a:xfrm>
            <a:off x="9293058" y="5266287"/>
            <a:ext cx="8696824" cy="4184922"/>
          </a:xfrm>
          <a:prstGeom prst="rect">
            <a:avLst/>
          </a:prstGeom>
          <a:noFill/>
          <a:ln>
            <a:noFill/>
          </a:ln>
        </p:spPr>
      </p:pic>
      <p:sp>
        <p:nvSpPr>
          <p:cNvPr id="315" name="Google Shape;315;p19"/>
          <p:cNvSpPr/>
          <p:nvPr/>
        </p:nvSpPr>
        <p:spPr>
          <a:xfrm>
            <a:off x="9315" y="0"/>
            <a:ext cx="1133685" cy="1181100"/>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7">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EBED"/>
        </a:solidFill>
      </p:bgPr>
    </p:bg>
    <p:spTree>
      <p:nvGrpSpPr>
        <p:cNvPr id="319" name="Shape 319"/>
        <p:cNvGrpSpPr/>
        <p:nvPr/>
      </p:nvGrpSpPr>
      <p:grpSpPr>
        <a:xfrm>
          <a:off x="0" y="0"/>
          <a:ext cx="0" cy="0"/>
          <a:chOff x="0" y="0"/>
          <a:chExt cx="0" cy="0"/>
        </a:xfrm>
      </p:grpSpPr>
      <p:sp>
        <p:nvSpPr>
          <p:cNvPr id="320" name="Google Shape;320;p20"/>
          <p:cNvSpPr txBox="1"/>
          <p:nvPr/>
        </p:nvSpPr>
        <p:spPr>
          <a:xfrm>
            <a:off x="557505" y="4311772"/>
            <a:ext cx="10003794" cy="1846659"/>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Clr>
                <a:srgbClr val="000000"/>
              </a:buClr>
              <a:buSzPts val="12000"/>
              <a:buFont typeface="Arial"/>
              <a:buNone/>
            </a:pPr>
            <a:r>
              <a:rPr b="1" i="0" lang="en-US" sz="12000" u="none" cap="none" strike="noStrike">
                <a:solidFill>
                  <a:schemeClr val="dk1"/>
                </a:solidFill>
                <a:latin typeface="Noto Sans"/>
                <a:ea typeface="Noto Sans"/>
                <a:cs typeface="Noto Sans"/>
                <a:sym typeface="Noto Sans"/>
              </a:rPr>
              <a:t>TỔNG KẾT</a:t>
            </a:r>
            <a:endParaRPr b="1" i="0" sz="12000" u="none" cap="none" strike="noStrike">
              <a:solidFill>
                <a:schemeClr val="dk1"/>
              </a:solidFill>
              <a:latin typeface="Noto Sans"/>
              <a:ea typeface="Noto Sans"/>
              <a:cs typeface="Noto Sans"/>
              <a:sym typeface="Noto Sans"/>
            </a:endParaRPr>
          </a:p>
        </p:txBody>
      </p:sp>
      <p:sp>
        <p:nvSpPr>
          <p:cNvPr id="321" name="Google Shape;321;p20"/>
          <p:cNvSpPr/>
          <p:nvPr/>
        </p:nvSpPr>
        <p:spPr>
          <a:xfrm>
            <a:off x="12410183" y="3016164"/>
            <a:ext cx="3883356" cy="4254673"/>
          </a:xfrm>
          <a:custGeom>
            <a:rect b="b" l="l" r="r" t="t"/>
            <a:pathLst>
              <a:path extrusionOk="0" h="4254673" w="3883356">
                <a:moveTo>
                  <a:pt x="0" y="0"/>
                </a:moveTo>
                <a:lnTo>
                  <a:pt x="3883356" y="0"/>
                </a:lnTo>
                <a:lnTo>
                  <a:pt x="3883356" y="4254672"/>
                </a:lnTo>
                <a:lnTo>
                  <a:pt x="0" y="425467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20"/>
          <p:cNvSpPr/>
          <p:nvPr/>
        </p:nvSpPr>
        <p:spPr>
          <a:xfrm rot="1563388">
            <a:off x="1015304" y="8332419"/>
            <a:ext cx="1958314" cy="640903"/>
          </a:xfrm>
          <a:custGeom>
            <a:rect b="b" l="l" r="r" t="t"/>
            <a:pathLst>
              <a:path extrusionOk="0" h="640903" w="1958314">
                <a:moveTo>
                  <a:pt x="0" y="0"/>
                </a:moveTo>
                <a:lnTo>
                  <a:pt x="1958315" y="0"/>
                </a:lnTo>
                <a:lnTo>
                  <a:pt x="1958315" y="640903"/>
                </a:lnTo>
                <a:lnTo>
                  <a:pt x="0" y="64090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0"/>
          <p:cNvSpPr/>
          <p:nvPr/>
        </p:nvSpPr>
        <p:spPr>
          <a:xfrm>
            <a:off x="9463569" y="797639"/>
            <a:ext cx="1097730" cy="1026378"/>
          </a:xfrm>
          <a:custGeom>
            <a:rect b="b" l="l" r="r" t="t"/>
            <a:pathLst>
              <a:path extrusionOk="0" h="1026378" w="1097730">
                <a:moveTo>
                  <a:pt x="0" y="0"/>
                </a:moveTo>
                <a:lnTo>
                  <a:pt x="1097730" y="0"/>
                </a:lnTo>
                <a:lnTo>
                  <a:pt x="1097730" y="1026377"/>
                </a:lnTo>
                <a:lnTo>
                  <a:pt x="0" y="102637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p20"/>
          <p:cNvSpPr/>
          <p:nvPr/>
        </p:nvSpPr>
        <p:spPr>
          <a:xfrm rot="605585">
            <a:off x="15767191" y="2500674"/>
            <a:ext cx="756373" cy="1276579"/>
          </a:xfrm>
          <a:custGeom>
            <a:rect b="b" l="l" r="r" t="t"/>
            <a:pathLst>
              <a:path extrusionOk="0" h="1276579" w="756373">
                <a:moveTo>
                  <a:pt x="0" y="0"/>
                </a:moveTo>
                <a:lnTo>
                  <a:pt x="756373" y="0"/>
                </a:lnTo>
                <a:lnTo>
                  <a:pt x="756373" y="1276579"/>
                </a:lnTo>
                <a:lnTo>
                  <a:pt x="0" y="127657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20"/>
          <p:cNvSpPr/>
          <p:nvPr/>
        </p:nvSpPr>
        <p:spPr>
          <a:xfrm>
            <a:off x="4419600" y="-268079"/>
            <a:ext cx="2891627" cy="2295229"/>
          </a:xfrm>
          <a:custGeom>
            <a:rect b="b" l="l" r="r" t="t"/>
            <a:pathLst>
              <a:path extrusionOk="0" h="2295229" w="2891627">
                <a:moveTo>
                  <a:pt x="0" y="0"/>
                </a:moveTo>
                <a:lnTo>
                  <a:pt x="2891627" y="0"/>
                </a:lnTo>
                <a:lnTo>
                  <a:pt x="2891627" y="2295229"/>
                </a:lnTo>
                <a:lnTo>
                  <a:pt x="0" y="2295229"/>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20"/>
          <p:cNvSpPr/>
          <p:nvPr/>
        </p:nvSpPr>
        <p:spPr>
          <a:xfrm>
            <a:off x="16145378" y="8265897"/>
            <a:ext cx="1113922" cy="992403"/>
          </a:xfrm>
          <a:custGeom>
            <a:rect b="b" l="l" r="r" t="t"/>
            <a:pathLst>
              <a:path extrusionOk="0" h="992403" w="1113922">
                <a:moveTo>
                  <a:pt x="0" y="0"/>
                </a:moveTo>
                <a:lnTo>
                  <a:pt x="1113922" y="0"/>
                </a:lnTo>
                <a:lnTo>
                  <a:pt x="1113922" y="992403"/>
                </a:lnTo>
                <a:lnTo>
                  <a:pt x="0" y="99240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0"/>
          <p:cNvSpPr/>
          <p:nvPr/>
        </p:nvSpPr>
        <p:spPr>
          <a:xfrm rot="1183025">
            <a:off x="8158954" y="8599002"/>
            <a:ext cx="1970092" cy="2248031"/>
          </a:xfrm>
          <a:custGeom>
            <a:rect b="b" l="l" r="r" t="t"/>
            <a:pathLst>
              <a:path extrusionOk="0" h="2248031" w="1970092">
                <a:moveTo>
                  <a:pt x="0" y="0"/>
                </a:moveTo>
                <a:lnTo>
                  <a:pt x="1970092" y="0"/>
                </a:lnTo>
                <a:lnTo>
                  <a:pt x="1970092" y="2248030"/>
                </a:lnTo>
                <a:lnTo>
                  <a:pt x="0" y="2248030"/>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20"/>
          <p:cNvSpPr/>
          <p:nvPr/>
        </p:nvSpPr>
        <p:spPr>
          <a:xfrm>
            <a:off x="0" y="0"/>
            <a:ext cx="1735916" cy="1759072"/>
          </a:xfrm>
          <a:custGeom>
            <a:rect b="b" l="l" r="r" t="t"/>
            <a:pathLst>
              <a:path extrusionOk="0" h="1759072" w="1735916">
                <a:moveTo>
                  <a:pt x="0" y="0"/>
                </a:moveTo>
                <a:lnTo>
                  <a:pt x="1735916" y="0"/>
                </a:lnTo>
                <a:lnTo>
                  <a:pt x="1735916" y="1759072"/>
                </a:lnTo>
                <a:lnTo>
                  <a:pt x="0" y="1759072"/>
                </a:lnTo>
                <a:lnTo>
                  <a:pt x="0" y="0"/>
                </a:lnTo>
                <a:close/>
              </a:path>
            </a:pathLst>
          </a:custGeom>
          <a:blipFill rotWithShape="1">
            <a:blip r:embed="rId10">
              <a:alphaModFix/>
            </a:blip>
            <a:stretch>
              <a:fillRect b="-26183" l="-29322" r="-2820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adge Heart outline" id="329" name="Google Shape;329;p20"/>
          <p:cNvPicPr preferRelativeResize="0"/>
          <p:nvPr/>
        </p:nvPicPr>
        <p:blipFill rotWithShape="1">
          <a:blip r:embed="rId11">
            <a:alphaModFix/>
          </a:blip>
          <a:srcRect b="0" l="0" r="0" t="0"/>
          <a:stretch/>
        </p:blipFill>
        <p:spPr>
          <a:xfrm>
            <a:off x="12930039" y="3789289"/>
            <a:ext cx="2891627" cy="289162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21"/>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ACER</dc:creator>
</cp:coreProperties>
</file>